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7ec3ccb-f20c-4f07-c14c-67331898f8d0}">
          <p14:sldIdLst>
            <p14:sldId id="256"/>
            <p14:sldId id="257"/>
          </p14:sldIdLst>
        </p14:section>
        <p14:section name="Concepts" id="{62c964f3-3e69-4618-56f6-a3588207671e}">
          <p14:sldIdLst>
            <p14:sldId id="258"/>
            <p14:sldId id="259"/>
            <p14:sldId id="260"/>
          </p14:sldIdLst>
        </p14:section>
        <p14:section name="Solution" id="{137d6feb-5978-9ba6-1349-dca2e5c9315a}">
          <p14:sldIdLst>
            <p14:sldId id="261"/>
            <p14:sldId id="262"/>
            <p14:sldId id="263"/>
            <p14:sldId id="264"/>
          </p14:sldIdLst>
        </p14:section>
        <p14:section name="Results" id="{e366522b-30b0-681c-398f-6492cdaec5fc}">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3E"/>
                </a:solidFill>
                <a:latin typeface="+mn-lt"/>
              </a:defRPr>
            </a:pPr>
            <a:r>
              <a:rPr sz="1400" b="0" i="0" u="none" strike="noStrike">
                <a:solidFill>
                  <a:srgbClr val="16213E"/>
                </a:solidFill>
                <a:latin typeface="+mn-lt"/>
              </a:rPr>
              <a:t>Taxi trips failing each rule (one pass over the data)</a:t>
            </a:r>
          </a:p>
        </c:rich>
      </c:tx>
      <c:layout/>
      <c:overlay val="0"/>
    </c:title>
    <c:autoTitleDeleted val="0"/>
    <c:plotArea>
      <c:layout/>
      <c:barChart>
        <c:barDir val="bar"/>
        <c:grouping val="clustered"/>
        <c:varyColors val="0"/>
        <c:ser>
          <c:idx val="0"/>
          <c:order val="0"/>
          <c:tx>
            <c:strRef>
              <c:f>Sheet1!$B$1</c:f>
              <c:strCache>
                <c:ptCount val="1"/>
                <c:pt idx="0">
                  <c:v>Trips failing the rule</c:v>
                </c:pt>
              </c:strCache>
            </c:strRef>
          </c:tx>
          <c:spPr>
            <a:solidFill>
              <a:srgbClr val="E94F37"/>
            </a:solidFill>
            <a:effectLst/>
          </c:spPr>
          <c:invertIfNegative val="0"/>
          <c:dLbls>
            <c:numFmt formatCode="#,##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cat>
            <c:multiLvlStrRef>
              <c:f>Sheet1!$A$2:$A$7</c:f>
              <c:multiLvlStrCache>
                <c:ptCount val="6"/>
                <c:lvl>
                  <c:pt idx="0">
                    <c:v>Distance 0–100 mi</c:v>
                  </c:pt>
                  <c:pt idx="1">
                    <c:v>Fare and total &gt; 0</c:v>
                  </c:pt>
                  <c:pt idx="2">
                    <c:v>Duration 1–180 min</c:v>
                  </c:pt>
                  <c:pt idx="3">
                    <c:v>Passengers 1–6</c:v>
                  </c:pt>
                  <c:pt idx="4">
                    <c:v>Speed ≤ 80 mph</c:v>
                  </c:pt>
                  <c:pt idx="5">
                    <c:v>Pickup in Jan 2024</c:v>
                  </c:pt>
                </c:lvl>
              </c:multiLvlStrCache>
            </c:multiLvlStrRef>
          </c:cat>
          <c:val>
            <c:numRef>
              <c:f>Sheet1!$B$2:$B$7</c:f>
              <c:numCache>
                <c:formatCode>General</c:formatCode>
                <c:ptCount val="6"/>
                <c:pt idx="0">
                  <c:v>60430</c:v>
                </c:pt>
                <c:pt idx="1">
                  <c:v>38341</c:v>
                </c:pt>
                <c:pt idx="2">
                  <c:v>37104</c:v>
                </c:pt>
                <c:pt idx="3">
                  <c:v>31525</c:v>
                </c:pt>
                <c:pt idx="4">
                  <c:v>1977</c:v>
                </c:pt>
                <c:pt idx="5">
                  <c:v>18</c:v>
                </c:pt>
              </c:numCache>
            </c:numRef>
          </c:val>
        </c:ser>
        <c:dLbls>
          <c:numFmt formatCode="#,##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3E"/>
                </a:solidFill>
                <a:latin typeface="+mn-lt"/>
              </a:defRPr>
            </a:pPr>
            <a:r>
              <a:rPr sz="1400" b="0" i="0" u="none" strike="noStrike">
                <a:solidFill>
                  <a:srgbClr val="16213E"/>
                </a:solidFill>
                <a:latin typeface="+mn-lt"/>
              </a:rPr>
              <a:t>Seconds, lower is better (median of 3 runs)</a:t>
            </a:r>
          </a:p>
        </c:rich>
      </c:tx>
      <c:layout/>
      <c:overlay val="0"/>
    </c:title>
    <c:autoTitleDeleted val="0"/>
    <c:plotArea>
      <c:layout/>
      <c:barChart>
        <c:barDir val="bar"/>
        <c:grouping val="clustered"/>
        <c:varyColors val="0"/>
        <c:ser>
          <c:idx val="0"/>
          <c:order val="0"/>
          <c:tx>
            <c:strRef>
              <c:f>Sheet1!$B$1</c:f>
              <c:strCache>
                <c:ptCount val="1"/>
                <c:pt idx="0">
                  <c:v>Baseline</c:v>
                </c:pt>
              </c:strCache>
            </c:strRef>
          </c:tx>
          <c:spPr>
            <a:solidFill>
              <a:srgbClr val="E94F37"/>
            </a:solidFill>
            <a:effectLst/>
          </c:spPr>
          <c:invertIfNegative val="0"/>
          <c:dLbls>
            <c:numFmt formatCode="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cat>
            <c:multiLvlStrRef>
              <c:f>Sheet1!$A$2:$A$6</c:f>
              <c:multiLvlStrCache>
                <c:ptCount val="5"/>
                <c:lvl>
                  <c:pt idx="0">
                    <c:v>O1 Cache</c:v>
                  </c:pt>
                  <c:pt idx="1">
                    <c:v>O2 Broadcast join</c:v>
                  </c:pt>
                  <c:pt idx="2">
                    <c:v>O3 Shuffle partitions</c:v>
                  </c:pt>
                  <c:pt idx="3">
                    <c:v>O4 AQE</c:v>
                  </c:pt>
                  <c:pt idx="4">
                    <c:v>O5 Parquet vs CSV</c:v>
                  </c:pt>
                </c:lvl>
              </c:multiLvlStrCache>
            </c:multiLvlStrRef>
          </c:cat>
          <c:val>
            <c:numRef>
              <c:f>Sheet1!$B$2:$B$6</c:f>
              <c:numCache>
                <c:formatCode>General</c:formatCode>
                <c:ptCount val="5"/>
                <c:pt idx="0">
                  <c:v>2.33</c:v>
                </c:pt>
                <c:pt idx="1">
                  <c:v>0.95</c:v>
                </c:pt>
                <c:pt idx="2">
                  <c:v>0.97</c:v>
                </c:pt>
                <c:pt idx="3">
                  <c:v>0.97</c:v>
                </c:pt>
                <c:pt idx="4">
                  <c:v>1.84</c:v>
                </c:pt>
              </c:numCache>
            </c:numRef>
          </c:val>
        </c:ser>
        <c:ser>
          <c:idx val="1"/>
          <c:order val="1"/>
          <c:tx>
            <c:strRef>
              <c:f>Sheet1!$C$1</c:f>
              <c:strCache>
                <c:ptCount val="1"/>
                <c:pt idx="0">
                  <c:v>Optimized</c:v>
                </c:pt>
              </c:strCache>
            </c:strRef>
          </c:tx>
          <c:spPr>
            <a:solidFill>
              <a:srgbClr val="1FA5A0"/>
            </a:solidFill>
            <a:effectLst/>
          </c:spPr>
          <c:invertIfNegative val="0"/>
          <c:dLbls>
            <c:numFmt formatCode="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cat>
            <c:multiLvlStrRef>
              <c:f>Sheet1!$A$2:$A$6</c:f>
              <c:multiLvlStrCache>
                <c:ptCount val="5"/>
                <c:lvl>
                  <c:pt idx="0">
                    <c:v>O1 Cache</c:v>
                  </c:pt>
                  <c:pt idx="1">
                    <c:v>O2 Broadcast join</c:v>
                  </c:pt>
                  <c:pt idx="2">
                    <c:v>O3 Shuffle partitions</c:v>
                  </c:pt>
                  <c:pt idx="3">
                    <c:v>O4 AQE</c:v>
                  </c:pt>
                  <c:pt idx="4">
                    <c:v>O5 Parquet vs CSV</c:v>
                  </c:pt>
                </c:lvl>
              </c:multiLvlStrCache>
            </c:multiLvlStrRef>
          </c:cat>
          <c:val>
            <c:numRef>
              <c:f>Sheet1!$C$2:$C$6</c:f>
              <c:numCache>
                <c:formatCode>General</c:formatCode>
                <c:ptCount val="5"/>
                <c:pt idx="0">
                  <c:v>0.94</c:v>
                </c:pt>
                <c:pt idx="1">
                  <c:v>0.43</c:v>
                </c:pt>
                <c:pt idx="2">
                  <c:v>0.22</c:v>
                </c:pt>
                <c:pt idx="3">
                  <c:v>0.34</c:v>
                </c:pt>
                <c:pt idx="4">
                  <c:v>0.22</c:v>
                </c:pt>
              </c:numCache>
            </c:numRef>
          </c:val>
        </c:ser>
        <c:dLbls>
          <c:numFmt formatCode="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13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3E"/>
                </a:solidFill>
                <a:latin typeface="+mn-lt"/>
              </a:defRPr>
            </a:pPr>
            <a:r>
              <a:rPr sz="1400" b="0" i="0" u="none" strike="noStrike">
                <a:solidFill>
                  <a:srgbClr val="16213E"/>
                </a:solidFill>
                <a:latin typeface="+mn-lt"/>
              </a:rPr>
              <a:t>Pandas vs Spark: same job, growing data (seconds)</a:t>
            </a:r>
          </a:p>
        </c:rich>
      </c:tx>
      <c:layout/>
      <c:overlay val="0"/>
    </c:title>
    <c:autoTitleDeleted val="0"/>
    <c:plotArea>
      <c:layout/>
      <c:lineChart>
        <c:varyColors val="0"/>
        <c:ser>
          <c:idx val="0"/>
          <c:order val="0"/>
          <c:tx>
            <c:strRef>
              <c:f>Sheet1!$B$1</c:f>
              <c:strCache>
                <c:ptCount val="1"/>
                <c:pt idx="0">
                  <c:v>Pandas</c:v>
                </c:pt>
              </c:strCache>
            </c:strRef>
          </c:tx>
          <c:spPr>
            <a:solidFill>
              <a:srgbClr val="F2A541"/>
            </a:solidFill>
            <a:ln w="38100" cap="flat">
              <a:solidFill>
                <a:srgbClr val="F2A541"/>
              </a:solidFill>
              <a:prstDash val="solid"/>
              <a:round/>
            </a:ln>
            <a:effectLst/>
          </c:spPr>
          <c:invertIfNegative val="0"/>
          <c:dLbls>
            <c:numFmt formatCode="#,##0" sourceLinked="0"/>
            <c:txPr>
              <a:bodyPr/>
              <a:lstStyle/>
              <a:p>
                <a:pPr>
                  <a:defRPr b="0" i="0" strike="noStrike" sz="1100" u="none">
                    <a:solidFill>
                      <a:srgbClr val="16213E"/>
                    </a:solidFill>
                    <a:latin typeface="+mn-lt"/>
                  </a:defRPr>
                </a:pPr>
              </a:p>
            </c:txPr>
            <c:showLegendKey val="0"/>
            <c:showVal val="0"/>
            <c:showCatName val="0"/>
            <c:showSerName val="0"/>
            <c:showPercent val="0"/>
            <c:showBubbleSize val="0"/>
            <c:showLeaderLines val="0"/>
          </c:dLbls>
          <c:marker>
            <c:symbol val="circle"/>
            <c:size val="8"/>
            <c:spPr>
              <a:solidFill>
                <a:srgbClr val="F2A541"/>
              </a:solidFill>
              <a:ln w="9525" cap="flat">
                <a:solidFill>
                  <a:srgbClr val="F2A541"/>
                </a:solidFill>
                <a:prstDash val="solid"/>
                <a:round/>
              </a:ln>
              <a:effectLst/>
            </c:spPr>
          </c:marker>
          <c:cat>
            <c:multiLvlStrRef>
              <c:f>Sheet1!$A$2:$A$5</c:f>
              <c:multiLvlStrCache>
                <c:ptCount val="4"/>
                <c:lvl>
                  <c:pt idx="0">
                    <c:v>0.1M</c:v>
                  </c:pt>
                  <c:pt idx="1">
                    <c:v>0.5M</c:v>
                  </c:pt>
                  <c:pt idx="2">
                    <c:v>1M</c:v>
                  </c:pt>
                  <c:pt idx="3">
                    <c:v>3M</c:v>
                  </c:pt>
                </c:lvl>
              </c:multiLvlStrCache>
            </c:multiLvlStrRef>
          </c:cat>
          <c:val>
            <c:numRef>
              <c:f>Sheet1!$B$2:$B$5</c:f>
              <c:numCache>
                <c:formatCode>General</c:formatCode>
                <c:ptCount val="4"/>
                <c:pt idx="0">
                  <c:v>0.05</c:v>
                </c:pt>
                <c:pt idx="1">
                  <c:v>0.08</c:v>
                </c:pt>
                <c:pt idx="2">
                  <c:v>0.11</c:v>
                </c:pt>
                <c:pt idx="3">
                  <c:v>0.56</c:v>
                </c:pt>
              </c:numCache>
            </c:numRef>
          </c:val>
          <c:smooth val="0"/>
        </c:ser>
        <c:ser>
          <c:idx val="1"/>
          <c:order val="1"/>
          <c:tx>
            <c:strRef>
              <c:f>Sheet1!$C$1</c:f>
              <c:strCache>
                <c:ptCount val="1"/>
                <c:pt idx="0">
                  <c:v>Spark</c:v>
                </c:pt>
              </c:strCache>
            </c:strRef>
          </c:tx>
          <c:spPr>
            <a:solidFill>
              <a:srgbClr val="0F3460"/>
            </a:solidFill>
            <a:ln w="38100" cap="flat">
              <a:solidFill>
                <a:srgbClr val="0F3460"/>
              </a:solidFill>
              <a:prstDash val="solid"/>
              <a:round/>
            </a:ln>
            <a:effectLst/>
          </c:spPr>
          <c:invertIfNegative val="0"/>
          <c:dLbls>
            <c:numFmt formatCode="#,##0" sourceLinked="0"/>
            <c:txPr>
              <a:bodyPr/>
              <a:lstStyle/>
              <a:p>
                <a:pPr>
                  <a:defRPr b="0" i="0" strike="noStrike" sz="1100" u="none">
                    <a:solidFill>
                      <a:srgbClr val="16213E"/>
                    </a:solidFill>
                    <a:latin typeface="+mn-lt"/>
                  </a:defRPr>
                </a:pPr>
              </a:p>
            </c:txPr>
            <c:showLegendKey val="0"/>
            <c:showVal val="0"/>
            <c:showCatName val="0"/>
            <c:showSerName val="0"/>
            <c:showPercent val="0"/>
            <c:showBubbleSize val="0"/>
            <c:showLeaderLines val="0"/>
          </c:dLbls>
          <c:marker>
            <c:symbol val="circle"/>
            <c:size val="8"/>
            <c:spPr>
              <a:solidFill>
                <a:srgbClr val="0F3460"/>
              </a:solidFill>
              <a:ln w="9525" cap="flat">
                <a:solidFill>
                  <a:srgbClr val="0F3460"/>
                </a:solidFill>
                <a:prstDash val="solid"/>
                <a:round/>
              </a:ln>
              <a:effectLst/>
            </c:spPr>
          </c:marker>
          <c:cat>
            <c:multiLvlStrRef>
              <c:f>Sheet1!$A$2:$A$5</c:f>
              <c:multiLvlStrCache>
                <c:ptCount val="4"/>
                <c:lvl>
                  <c:pt idx="0">
                    <c:v>0.1M</c:v>
                  </c:pt>
                  <c:pt idx="1">
                    <c:v>0.5M</c:v>
                  </c:pt>
                  <c:pt idx="2">
                    <c:v>1M</c:v>
                  </c:pt>
                  <c:pt idx="3">
                    <c:v>3M</c:v>
                  </c:pt>
                </c:lvl>
              </c:multiLvlStrCache>
            </c:multiLvlStrRef>
          </c:cat>
          <c:val>
            <c:numRef>
              <c:f>Sheet1!$C$2:$C$5</c:f>
              <c:numCache>
                <c:formatCode>General</c:formatCode>
                <c:ptCount val="4"/>
                <c:pt idx="0">
                  <c:v>0.24</c:v>
                </c:pt>
                <c:pt idx="1">
                  <c:v>0.35</c:v>
                </c:pt>
                <c:pt idx="2">
                  <c:v>0.44</c:v>
                </c:pt>
                <c:pt idx="3">
                  <c:v>0.37</c:v>
                </c:pt>
              </c:numCache>
            </c:numRef>
          </c:val>
          <c:smooth val="0"/>
        </c:ser>
        <c:dLbls>
          <c:numFmt formatCode="#,##0" sourceLinked="0"/>
          <c:txPr>
            <a:bodyPr/>
            <a:lstStyle/>
            <a:p>
              <a:pPr>
                <a:defRPr b="0" i="0" strike="noStrike" sz="1100" u="none">
                  <a:solidFill>
                    <a:srgbClr val="16213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3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13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3E"/>
                </a:solidFill>
                <a:latin typeface="+mn-lt"/>
              </a:defRPr>
            </a:pPr>
            <a:r>
              <a:rPr sz="1400" b="0" i="0" u="none" strike="noStrike">
                <a:solidFill>
                  <a:srgbClr val="16213E"/>
                </a:solidFill>
                <a:latin typeface="+mn-lt"/>
              </a:rPr>
              <a:t>Same pipeline, more CPU cores (seconds)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1FA5A0"/>
            </a:solidFill>
            <a:effectLst/>
          </c:spPr>
          <c:invertIfNegative val="0"/>
          <c:dLbls>
            <c:numFmt formatCode="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cat>
            <c:multiLvlStrRef>
              <c:f>Sheet1!$A$2:$A$4</c:f>
              <c:multiLvlStrCache>
                <c:ptCount val="3"/>
                <c:lvl>
                  <c:pt idx="0">
                    <c:v>1 core</c:v>
                  </c:pt>
                  <c:pt idx="1">
                    <c:v>2 cores</c:v>
                  </c:pt>
                  <c:pt idx="2">
                    <c:v>4 cores</c:v>
                  </c:pt>
                </c:lvl>
              </c:multiLvlStrCache>
            </c:multiLvlStrRef>
          </c:cat>
          <c:val>
            <c:numRef>
              <c:f>Sheet1!$B$2:$B$4</c:f>
              <c:numCache>
                <c:formatCode>General</c:formatCode>
                <c:ptCount val="3"/>
                <c:pt idx="0">
                  <c:v>1.34</c:v>
                </c:pt>
                <c:pt idx="1">
                  <c:v>1.06</c:v>
                </c:pt>
                <c:pt idx="2">
                  <c:v>0.73</c:v>
                </c:pt>
              </c:numCache>
            </c:numRef>
          </c:val>
        </c:ser>
        <c:dLbls>
          <c:numFmt formatCode="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we act as New York City's data team and use Spark DataFrames to process six real city datasets covering mobility, citizen services, environment and live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works on one machine and one core, and must fit everything in RAM. Spark splits the data and processes it in parallel. Our plan: collect six NYC datasets, load them into DataFrames, clean them, answer ten questions, then optimize and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a distributed processing engine. PySpark lets us drive it from Python. The driver (our notebook) plans the work and sends tasks to executors, each working on its own partitions. We use local mode, where each CPU core is a worker; the same code would run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Spark DataFrame looks like a table, but it is distributed, immutable, lazy and optimized. Compared with Pandas: Pandas holds everything in one machine's memory and runs immediately; Spark splits the data and runs only when asked. We use Pandas just for small results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split into partitions; each partition is one task on one core; tasks that need no data movement form a stage; all stages for one action form a job. Transformations only plan; actions run. Wide operations like groupBy cause a shuffle, the most expensive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datasets, all free public NYC data. Taxi trips and zones are plain file downloads. 311 complaints come from the city's open data API page by page. Air quality and weather come from the Open-Meteo API as JSON. Live traffic is fetched fresh every run. Everything historical is January 2024 so we can join by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solution is one notebook. It downloads the data, stores it, reads it into DataFrames, cleans it, runs the queries and optimizations, and saves charts and results. The notebook follows the seven required steps in order. We chose not to build a frontend because the marks are for Spark work, and the notebook plus the Spark UI present it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format needs a different reader: Parquet carries its schema, CSV gets an explicit schema, and the API JSON is flattened with arrays_zip and explode. Cleaning: six rules for taxi trips, all counted in a single pass, removing 4.6 percent of trips. 311 data is de-duplicated and dates are parsed safely; live traffic keeps only the newest valid reading per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questions across four areas. Each uses different DataFrame features: groupBy and SQL, joins, pivot, window functions, medians, and correlations across sources. Q10 combines four sources into one borough scorecard. Results from the 311, air and live traffic data appear when the notebook runs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experiment runs the same work the normal way and the optimized way, three times, and we take the median. Parquet gave the biggest speed-up, then shuffle partition tuning. Caching helps whenever cleaned data is reused. The Spark UI's Storage and SQL tabs show the cache and the join type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is faster on small data because Spark has start-up overhead; Spark catches up as data grows, and unlike Pandas it is not limited to one machine's memory. Adding cores helps, but not linearly, because part of the job cannot be parallelized.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Spark DataFrames let us process six very different city datasets with one API, and our measurements show which optimizations matter. We covered every evaluation criterion and two of the three bonus items.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94944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651760"/>
            <a:ext cx="6949440" cy="64008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Smart City NYC · Data Processing using Spark DataFrames · Case Study 2</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rPr>
              <a:t>Smart City NYC</a:t>
            </a:r>
            <a:endParaRPr lang="en-US" sz="5400" dirty="0"/>
          </a:p>
        </p:txBody>
      </p:sp>
      <p:sp>
        <p:nvSpPr>
          <p:cNvPr id="3" name="Text 0"/>
          <p:cNvSpPr/>
          <p:nvPr>
            <p:ph idx="101" type="body" hasCustomPrompt="1"/>
          </p:nvPr>
        </p:nvSpPr>
        <p:spPr>
          <a:xfrm>
            <a:off x="548640" y="2651760"/>
            <a:ext cx="6949440" cy="640080"/>
          </a:xfrm>
          <a:prstGeom prst="rect">
            <a:avLst/>
          </a:prstGeom>
          <a:noFill/>
          <a:ln/>
        </p:spPr>
        <p:txBody>
          <a:bodyPr wrap="square" lIns="0" tIns="0" rIns="0" bIns="0" rtlCol="0" anchor="t"/>
          <a:lstStyle/>
          <a:p>
            <a:pPr algn="l" indent="0" marL="0">
              <a:buNone/>
            </a:pPr>
            <a:r>
              <a:rPr lang="en-US" sz="2400" dirty="0">
                <a:solidFill>
                  <a:schemeClr val="accent1"/>
                </a:solidFill>
              </a:rPr>
              <a:t>Processing city data with Spark DataFrames</a:t>
            </a:r>
            <a:endParaRPr lang="en-US" sz="2400" dirty="0"/>
          </a:p>
        </p:txBody>
      </p:sp>
      <p:sp>
        <p:nvSpPr>
          <p:cNvPr id="4" name="course-line"/>
          <p:cNvSpPr txBox="1"/>
          <p:nvPr/>
        </p:nvSpPr>
        <p:spPr>
          <a:xfrm>
            <a:off x="548640" y="3429000"/>
            <a:ext cx="6949440" cy="365760"/>
          </a:xfrm>
          <a:prstGeom prst="rect">
            <a:avLst/>
          </a:prstGeom>
          <a:noFill/>
          <a:ln/>
        </p:spPr>
        <p:txBody>
          <a:bodyPr wrap="square" lIns="0" tIns="0" rIns="0" bIns="0" rtlCol="0" anchor="t"/>
          <a:lstStyle/>
          <a:p>
            <a:pPr indent="0" marL="0">
              <a:buNone/>
            </a:pPr>
            <a:r>
              <a:rPr lang="en-US" sz="1600" dirty="0">
                <a:solidFill>
                  <a:schemeClr val="accent6"/>
                </a:solidFill>
              </a:rPr>
              <a:t>Case Study 2 · Unit 5.2 DataFrames · Tools: PySpark, Pandas</a:t>
            </a:r>
            <a:endParaRPr lang="en-US" sz="1600" dirty="0"/>
          </a:p>
        </p:txBody>
      </p:sp>
      <p:sp>
        <p:nvSpPr>
          <p:cNvPr id="5" name="team-0"/>
          <p:cNvSpPr txBox="1"/>
          <p:nvPr/>
        </p:nvSpPr>
        <p:spPr>
          <a:xfrm>
            <a:off x="548640" y="4526280"/>
            <a:ext cx="3108960" cy="594360"/>
          </a:xfrm>
          <a:prstGeom prst="rect">
            <a:avLst/>
          </a:prstGeom>
          <a:noFill/>
          <a:ln/>
        </p:spPr>
        <p:txBody>
          <a:bodyPr wrap="square" lIns="0" tIns="0" rIns="0" bIns="0" rtlCol="0" anchor="t"/>
          <a:lstStyle/>
          <a:p>
            <a:pPr indent="0" marL="0">
              <a:buNone/>
            </a:pPr>
            <a:r>
              <a:rPr lang="en-US" sz="1600" b="1" dirty="0">
                <a:solidFill>
                  <a:schemeClr val="bg1"/>
                </a:solidFill>
              </a:rPr>
              <a:t>Varun Murugan</a:t>
            </a:r>
            <a:endParaRPr lang="en-US" sz="1600" dirty="0"/>
          </a:p>
          <a:p>
            <a:pPr indent="0" marL="0">
              <a:buNone/>
            </a:pPr>
            <a:r>
              <a:rPr lang="en-US" sz="1300" dirty="0">
                <a:solidFill>
                  <a:schemeClr val="accent6"/>
                </a:solidFill>
              </a:rPr>
              <a:t>124A8118</a:t>
            </a:r>
            <a:endParaRPr lang="en-US" sz="1600" dirty="0"/>
          </a:p>
        </p:txBody>
      </p:sp>
      <p:sp>
        <p:nvSpPr>
          <p:cNvPr id="6" name="team-1"/>
          <p:cNvSpPr txBox="1"/>
          <p:nvPr/>
        </p:nvSpPr>
        <p:spPr>
          <a:xfrm>
            <a:off x="3840480" y="4526280"/>
            <a:ext cx="3108960" cy="594360"/>
          </a:xfrm>
          <a:prstGeom prst="rect">
            <a:avLst/>
          </a:prstGeom>
          <a:noFill/>
          <a:ln/>
        </p:spPr>
        <p:txBody>
          <a:bodyPr wrap="square" lIns="0" tIns="0" rIns="0" bIns="0" rtlCol="0" anchor="t"/>
          <a:lstStyle/>
          <a:p>
            <a:pPr indent="0" marL="0">
              <a:buNone/>
            </a:pPr>
            <a:r>
              <a:rPr lang="en-US" sz="1600" b="1" dirty="0">
                <a:solidFill>
                  <a:schemeClr val="bg1"/>
                </a:solidFill>
              </a:rPr>
              <a:t>Rankin Yanu</a:t>
            </a:r>
            <a:endParaRPr lang="en-US" sz="1600" dirty="0"/>
          </a:p>
          <a:p>
            <a:pPr indent="0" marL="0">
              <a:buNone/>
            </a:pPr>
            <a:r>
              <a:rPr lang="en-US" sz="1300" dirty="0">
                <a:solidFill>
                  <a:schemeClr val="accent6"/>
                </a:solidFill>
              </a:rPr>
              <a:t>124A8124</a:t>
            </a:r>
            <a:endParaRPr lang="en-US" sz="1600" dirty="0"/>
          </a:p>
        </p:txBody>
      </p:sp>
      <p:sp>
        <p:nvSpPr>
          <p:cNvPr id="7" name="team-2"/>
          <p:cNvSpPr txBox="1"/>
          <p:nvPr/>
        </p:nvSpPr>
        <p:spPr>
          <a:xfrm>
            <a:off x="548640" y="5212080"/>
            <a:ext cx="3108960" cy="594360"/>
          </a:xfrm>
          <a:prstGeom prst="rect">
            <a:avLst/>
          </a:prstGeom>
          <a:noFill/>
          <a:ln/>
        </p:spPr>
        <p:txBody>
          <a:bodyPr wrap="square" lIns="0" tIns="0" rIns="0" bIns="0" rtlCol="0" anchor="t"/>
          <a:lstStyle/>
          <a:p>
            <a:pPr indent="0" marL="0">
              <a:buNone/>
            </a:pPr>
            <a:r>
              <a:rPr lang="en-US" sz="1600" b="1" dirty="0">
                <a:solidFill>
                  <a:schemeClr val="bg1"/>
                </a:solidFill>
              </a:rPr>
              <a:t>Navin Nadar</a:t>
            </a:r>
            <a:endParaRPr lang="en-US" sz="1600" dirty="0"/>
          </a:p>
          <a:p>
            <a:pPr indent="0" marL="0">
              <a:buNone/>
            </a:pPr>
            <a:r>
              <a:rPr lang="en-US" sz="1300" dirty="0">
                <a:solidFill>
                  <a:schemeClr val="accent6"/>
                </a:solidFill>
              </a:rPr>
              <a:t>225A8134</a:t>
            </a:r>
            <a:endParaRPr lang="en-US" sz="1600" dirty="0"/>
          </a:p>
        </p:txBody>
      </p:sp>
      <p:sp>
        <p:nvSpPr>
          <p:cNvPr id="8" name="team-3"/>
          <p:cNvSpPr txBox="1"/>
          <p:nvPr/>
        </p:nvSpPr>
        <p:spPr>
          <a:xfrm>
            <a:off x="3840480" y="5212080"/>
            <a:ext cx="3108960" cy="594360"/>
          </a:xfrm>
          <a:prstGeom prst="rect">
            <a:avLst/>
          </a:prstGeom>
          <a:noFill/>
          <a:ln/>
        </p:spPr>
        <p:txBody>
          <a:bodyPr wrap="square" lIns="0" tIns="0" rIns="0" bIns="0" rtlCol="0" anchor="t"/>
          <a:lstStyle/>
          <a:p>
            <a:pPr indent="0" marL="0">
              <a:buNone/>
            </a:pPr>
            <a:r>
              <a:rPr lang="en-US" sz="1600" b="1" dirty="0">
                <a:solidFill>
                  <a:schemeClr val="bg1"/>
                </a:solidFill>
              </a:rPr>
              <a:t>Abhay Hanchate</a:t>
            </a:r>
            <a:endParaRPr lang="en-US" sz="1600" dirty="0"/>
          </a:p>
          <a:p>
            <a:pPr indent="0" marL="0">
              <a:buNone/>
            </a:pPr>
            <a:r>
              <a:rPr lang="en-US" sz="1300" dirty="0">
                <a:solidFill>
                  <a:schemeClr val="accent6"/>
                </a:solidFill>
              </a:rPr>
              <a:t>225A8129</a:t>
            </a:r>
            <a:endParaRPr lang="en-US" sz="1600" dirty="0"/>
          </a:p>
        </p:txBody>
      </p:sp>
      <p:sp>
        <p:nvSpPr>
          <p:cNvPr id="9" name="hero-0-circle"/>
          <p:cNvSpPr/>
          <p:nvPr/>
        </p:nvSpPr>
        <p:spPr>
          <a:xfrm>
            <a:off x="8229600" y="1554480"/>
            <a:ext cx="1417320" cy="1417320"/>
          </a:xfrm>
          <a:prstGeom prst="ellipse">
            <a:avLst/>
          </a:prstGeom>
          <a:solidFill>
            <a:schemeClr val="accent1"/>
          </a:solidFill>
          <a:ln/>
        </p:spPr>
      </p:sp>
      <p:pic>
        <p:nvPicPr>
          <p:cNvPr id="10" name="hero-0-icon" descr="Taxi icon">    </p:cNvPr>
          <p:cNvPicPr>
            <a:picLocks noChangeAspect="1"/>
          </p:cNvPicPr>
          <p:nvPr/>
        </p:nvPicPr>
        <p:blipFill>
          <a:blip r:embed="rId1"/>
          <a:stretch>
            <a:fillRect/>
          </a:stretch>
        </p:blipFill>
        <p:spPr>
          <a:xfrm>
            <a:off x="8583930" y="1908810"/>
            <a:ext cx="708660" cy="708660"/>
          </a:xfrm>
          <a:prstGeom prst="rect">
            <a:avLst/>
          </a:prstGeom>
        </p:spPr>
      </p:pic>
      <p:sp>
        <p:nvSpPr>
          <p:cNvPr id="11" name="hero-1-circle"/>
          <p:cNvSpPr/>
          <p:nvPr/>
        </p:nvSpPr>
        <p:spPr>
          <a:xfrm>
            <a:off x="9921240" y="1554480"/>
            <a:ext cx="1417320" cy="1417320"/>
          </a:xfrm>
          <a:prstGeom prst="ellipse">
            <a:avLst/>
          </a:prstGeom>
          <a:solidFill>
            <a:schemeClr val="accent2"/>
          </a:solidFill>
          <a:ln/>
        </p:spPr>
      </p:sp>
      <p:pic>
        <p:nvPicPr>
          <p:cNvPr id="12" name="hero-1-icon" descr="Landmark icon">    </p:cNvPr>
          <p:cNvPicPr>
            <a:picLocks noChangeAspect="1"/>
          </p:cNvPicPr>
          <p:nvPr/>
        </p:nvPicPr>
        <p:blipFill>
          <a:blip r:embed="rId2"/>
          <a:stretch>
            <a:fillRect/>
          </a:stretch>
        </p:blipFill>
        <p:spPr>
          <a:xfrm>
            <a:off x="10275570" y="1908810"/>
            <a:ext cx="708660" cy="708660"/>
          </a:xfrm>
          <a:prstGeom prst="rect">
            <a:avLst/>
          </a:prstGeom>
        </p:spPr>
      </p:pic>
      <p:sp>
        <p:nvSpPr>
          <p:cNvPr id="13" name="hero-2-circle"/>
          <p:cNvSpPr/>
          <p:nvPr/>
        </p:nvSpPr>
        <p:spPr>
          <a:xfrm>
            <a:off x="8229600" y="3246120"/>
            <a:ext cx="1417320" cy="1417320"/>
          </a:xfrm>
          <a:prstGeom prst="ellipse">
            <a:avLst/>
          </a:prstGeom>
          <a:solidFill>
            <a:schemeClr val="accent5"/>
          </a:solidFill>
          <a:ln/>
        </p:spPr>
      </p:sp>
      <p:pic>
        <p:nvPicPr>
          <p:cNvPr id="14" name="hero-2-icon" descr="Smog icon">    </p:cNvPr>
          <p:cNvPicPr>
            <a:picLocks noChangeAspect="1"/>
          </p:cNvPicPr>
          <p:nvPr/>
        </p:nvPicPr>
        <p:blipFill>
          <a:blip r:embed="rId3"/>
          <a:stretch>
            <a:fillRect/>
          </a:stretch>
        </p:blipFill>
        <p:spPr>
          <a:xfrm>
            <a:off x="8583930" y="3600450"/>
            <a:ext cx="708660" cy="708660"/>
          </a:xfrm>
          <a:prstGeom prst="rect">
            <a:avLst/>
          </a:prstGeom>
        </p:spPr>
      </p:pic>
      <p:sp>
        <p:nvSpPr>
          <p:cNvPr id="15" name="hero-3-circle"/>
          <p:cNvSpPr/>
          <p:nvPr/>
        </p:nvSpPr>
        <p:spPr>
          <a:xfrm>
            <a:off x="9921240" y="3246120"/>
            <a:ext cx="1417320" cy="1417320"/>
          </a:xfrm>
          <a:prstGeom prst="ellipse">
            <a:avLst/>
          </a:prstGeom>
          <a:solidFill>
            <a:schemeClr val="accent3"/>
          </a:solidFill>
          <a:ln/>
        </p:spPr>
      </p:sp>
      <p:pic>
        <p:nvPicPr>
          <p:cNvPr id="16" name="hero-3-icon" descr="TrafficLight icon">    </p:cNvPr>
          <p:cNvPicPr>
            <a:picLocks noChangeAspect="1"/>
          </p:cNvPicPr>
          <p:nvPr/>
        </p:nvPicPr>
        <p:blipFill>
          <a:blip r:embed="rId4"/>
          <a:stretch>
            <a:fillRect/>
          </a:stretch>
        </p:blipFill>
        <p:spPr>
          <a:xfrm>
            <a:off x="10275570" y="3600450"/>
            <a:ext cx="708660" cy="708660"/>
          </a:xfrm>
          <a:prstGeom prst="rect">
            <a:avLst/>
          </a:prstGeom>
        </p:spPr>
      </p:pic>
      <p:sp>
        <p:nvSpPr>
          <p:cNvPr id="17" name="hero-caption"/>
          <p:cNvSpPr txBox="1"/>
          <p:nvPr/>
        </p:nvSpPr>
        <p:spPr>
          <a:xfrm>
            <a:off x="7863840" y="5074920"/>
            <a:ext cx="3840480" cy="365760"/>
          </a:xfrm>
          <a:prstGeom prst="rect">
            <a:avLst/>
          </a:prstGeom>
          <a:noFill/>
          <a:ln/>
        </p:spPr>
        <p:txBody>
          <a:bodyPr wrap="square" lIns="0" tIns="0" rIns="0" bIns="0" rtlCol="0" anchor="t"/>
          <a:lstStyle/>
          <a:p>
            <a:pPr algn="ctr" indent="0" marL="0">
              <a:buNone/>
            </a:pPr>
            <a:r>
              <a:rPr lang="en-US" sz="1300" dirty="0">
                <a:solidFill>
                  <a:schemeClr val="accent6"/>
                </a:solidFill>
              </a:rPr>
              <a:t>Mobility · Citizen services · Environment · Live traffic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problem and our idea</a:t>
            </a:r>
            <a:endParaRPr lang="en-US" sz="3600" dirty="0"/>
          </a:p>
        </p:txBody>
      </p:sp>
      <p:sp>
        <p:nvSpPr>
          <p:cNvPr id="3" name="problem-card"/>
          <p:cNvSpPr/>
          <p:nvPr/>
        </p:nvSpPr>
        <p:spPr>
          <a:xfrm>
            <a:off x="548640" y="1325880"/>
            <a:ext cx="5120640" cy="2331720"/>
          </a:xfrm>
          <a:prstGeom prst="roundRect">
            <a:avLst>
              <a:gd name="adj" fmla="val 4706"/>
            </a:avLst>
          </a:prstGeom>
          <a:solidFill>
            <a:schemeClr val="bg2"/>
          </a:solidFill>
          <a:ln/>
        </p:spPr>
      </p:sp>
      <p:sp>
        <p:nvSpPr>
          <p:cNvPr id="4" name="problem-circle"/>
          <p:cNvSpPr/>
          <p:nvPr/>
        </p:nvSpPr>
        <p:spPr>
          <a:xfrm>
            <a:off x="822960" y="1554480"/>
            <a:ext cx="685800" cy="685800"/>
          </a:xfrm>
          <a:prstGeom prst="ellipse">
            <a:avLst/>
          </a:prstGeom>
          <a:solidFill>
            <a:schemeClr val="accent3"/>
          </a:solidFill>
          <a:ln/>
        </p:spPr>
      </p:sp>
      <p:pic>
        <p:nvPicPr>
          <p:cNvPr id="5" name="problem-icon" descr="ExclamationTriangle icon">    </p:cNvPr>
          <p:cNvPicPr>
            <a:picLocks noChangeAspect="1"/>
          </p:cNvPicPr>
          <p:nvPr/>
        </p:nvPicPr>
        <p:blipFill>
          <a:blip r:embed="rId1"/>
          <a:stretch>
            <a:fillRect/>
          </a:stretch>
        </p:blipFill>
        <p:spPr>
          <a:xfrm>
            <a:off x="994410" y="1725930"/>
            <a:ext cx="342900" cy="342900"/>
          </a:xfrm>
          <a:prstGeom prst="rect">
            <a:avLst/>
          </a:prstGeom>
        </p:spPr>
      </p:pic>
      <p:sp>
        <p:nvSpPr>
          <p:cNvPr id="6" name="problem-head"/>
          <p:cNvSpPr txBox="1"/>
          <p:nvPr/>
        </p:nvSpPr>
        <p:spPr>
          <a:xfrm>
            <a:off x="1691640" y="1664208"/>
            <a:ext cx="3749040" cy="457200"/>
          </a:xfrm>
          <a:prstGeom prst="rect">
            <a:avLst/>
          </a:prstGeom>
          <a:noFill/>
          <a:ln/>
        </p:spPr>
        <p:txBody>
          <a:bodyPr wrap="square" lIns="0" tIns="0" rIns="0" bIns="0" rtlCol="0" anchor="t"/>
          <a:lstStyle/>
          <a:p>
            <a:pPr indent="0" marL="0">
              <a:buNone/>
            </a:pPr>
            <a:r>
              <a:rPr lang="en-US" sz="2000" b="1" dirty="0">
                <a:solidFill>
                  <a:schemeClr val="tx1"/>
                </a:solidFill>
              </a:rPr>
              <a:t>The problem</a:t>
            </a:r>
            <a:endParaRPr lang="en-US" sz="2000" dirty="0"/>
          </a:p>
        </p:txBody>
      </p:sp>
      <p:sp>
        <p:nvSpPr>
          <p:cNvPr id="7" name="problem-text"/>
          <p:cNvSpPr txBox="1"/>
          <p:nvPr/>
        </p:nvSpPr>
        <p:spPr>
          <a:xfrm>
            <a:off x="822960" y="2423160"/>
            <a:ext cx="45720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Pandas runs on one machine, mostly on one CPU core, and needs all data in memory</a:t>
            </a:r>
            <a:endParaRPr lang="en-US" sz="1500" dirty="0"/>
          </a:p>
          <a:p>
            <a:pPr marL="342900" indent="-342900">
              <a:spcAft>
                <a:spcPts val="600"/>
              </a:spcAft>
              <a:buSzPct val="100000"/>
              <a:buChar char="•"/>
            </a:pPr>
            <a:r>
              <a:rPr lang="en-US" sz="1500" dirty="0">
                <a:solidFill>
                  <a:schemeClr val="tx1"/>
                </a:solidFill>
              </a:rPr>
              <a:t>City data is big, arrives in many formats, and some of it changes every few minutes</a:t>
            </a:r>
            <a:endParaRPr lang="en-US" sz="1500" dirty="0"/>
          </a:p>
        </p:txBody>
      </p:sp>
      <p:sp>
        <p:nvSpPr>
          <p:cNvPr id="8" name="stat-card-0"/>
          <p:cNvSpPr/>
          <p:nvPr/>
        </p:nvSpPr>
        <p:spPr>
          <a:xfrm>
            <a:off x="548640" y="3886200"/>
            <a:ext cx="2514600" cy="1051560"/>
          </a:xfrm>
          <a:prstGeom prst="roundRect">
            <a:avLst>
              <a:gd name="adj" fmla="val 10435"/>
            </a:avLst>
          </a:prstGeom>
          <a:solidFill>
            <a:schemeClr val="bg2"/>
          </a:solidFill>
          <a:ln/>
        </p:spPr>
      </p:sp>
      <p:sp>
        <p:nvSpPr>
          <p:cNvPr id="9" name="stat-0"/>
          <p:cNvSpPr txBox="1"/>
          <p:nvPr/>
        </p:nvSpPr>
        <p:spPr>
          <a:xfrm>
            <a:off x="777240" y="3995928"/>
            <a:ext cx="2103120" cy="548640"/>
          </a:xfrm>
          <a:prstGeom prst="rect">
            <a:avLst/>
          </a:prstGeom>
          <a:noFill/>
          <a:ln/>
        </p:spPr>
        <p:txBody>
          <a:bodyPr wrap="square" lIns="0" tIns="0" rIns="0" bIns="0" rtlCol="0" anchor="t"/>
          <a:lstStyle/>
          <a:p>
            <a:pPr indent="0" marL="0">
              <a:buNone/>
            </a:pPr>
            <a:r>
              <a:rPr lang="en-US" sz="3000" b="1" dirty="0">
                <a:solidFill>
                  <a:schemeClr val="tx2"/>
                </a:solidFill>
              </a:rPr>
              <a:t>6</a:t>
            </a:r>
            <a:endParaRPr lang="en-US" sz="3000" dirty="0"/>
          </a:p>
        </p:txBody>
      </p:sp>
      <p:sp>
        <p:nvSpPr>
          <p:cNvPr id="10" name="stat-label-0"/>
          <p:cNvSpPr txBox="1"/>
          <p:nvPr/>
        </p:nvSpPr>
        <p:spPr>
          <a:xfrm>
            <a:off x="777240" y="4544568"/>
            <a:ext cx="2194560" cy="320040"/>
          </a:xfrm>
          <a:prstGeom prst="rect">
            <a:avLst/>
          </a:prstGeom>
          <a:noFill/>
          <a:ln/>
        </p:spPr>
        <p:txBody>
          <a:bodyPr wrap="square" lIns="0" tIns="0" rIns="0" bIns="0" rtlCol="0" anchor="t"/>
          <a:lstStyle/>
          <a:p>
            <a:pPr indent="0" marL="0">
              <a:buNone/>
            </a:pPr>
            <a:r>
              <a:rPr lang="en-US" sz="1300" dirty="0">
                <a:solidFill>
                  <a:schemeClr val="accent4"/>
                </a:solidFill>
              </a:rPr>
              <a:t>real NYC data sources</a:t>
            </a:r>
            <a:endParaRPr lang="en-US" sz="1300" dirty="0"/>
          </a:p>
        </p:txBody>
      </p:sp>
      <p:sp>
        <p:nvSpPr>
          <p:cNvPr id="11" name="stat-card-1"/>
          <p:cNvSpPr/>
          <p:nvPr/>
        </p:nvSpPr>
        <p:spPr>
          <a:xfrm>
            <a:off x="3154680" y="3886200"/>
            <a:ext cx="2514600" cy="1051560"/>
          </a:xfrm>
          <a:prstGeom prst="roundRect">
            <a:avLst>
              <a:gd name="adj" fmla="val 10435"/>
            </a:avLst>
          </a:prstGeom>
          <a:solidFill>
            <a:schemeClr val="bg2"/>
          </a:solidFill>
          <a:ln/>
        </p:spPr>
      </p:sp>
      <p:sp>
        <p:nvSpPr>
          <p:cNvPr id="12" name="stat-1"/>
          <p:cNvSpPr txBox="1"/>
          <p:nvPr/>
        </p:nvSpPr>
        <p:spPr>
          <a:xfrm>
            <a:off x="3383280" y="3995928"/>
            <a:ext cx="2103120" cy="548640"/>
          </a:xfrm>
          <a:prstGeom prst="rect">
            <a:avLst/>
          </a:prstGeom>
          <a:noFill/>
          <a:ln/>
        </p:spPr>
        <p:txBody>
          <a:bodyPr wrap="square" lIns="0" tIns="0" rIns="0" bIns="0" rtlCol="0" anchor="t"/>
          <a:lstStyle/>
          <a:p>
            <a:pPr indent="0" marL="0">
              <a:buNone/>
            </a:pPr>
            <a:r>
              <a:rPr lang="en-US" sz="3000" b="1" dirty="0">
                <a:solidFill>
                  <a:schemeClr val="tx2"/>
                </a:solidFill>
              </a:rPr>
              <a:t>~3.2M</a:t>
            </a:r>
            <a:endParaRPr lang="en-US" sz="3000" dirty="0"/>
          </a:p>
        </p:txBody>
      </p:sp>
      <p:sp>
        <p:nvSpPr>
          <p:cNvPr id="13" name="stat-label-1"/>
          <p:cNvSpPr txBox="1"/>
          <p:nvPr/>
        </p:nvSpPr>
        <p:spPr>
          <a:xfrm>
            <a:off x="3383280" y="4544568"/>
            <a:ext cx="2194560" cy="320040"/>
          </a:xfrm>
          <a:prstGeom prst="rect">
            <a:avLst/>
          </a:prstGeom>
          <a:noFill/>
          <a:ln/>
        </p:spPr>
        <p:txBody>
          <a:bodyPr wrap="square" lIns="0" tIns="0" rIns="0" bIns="0" rtlCol="0" anchor="t"/>
          <a:lstStyle/>
          <a:p>
            <a:pPr indent="0" marL="0">
              <a:buNone/>
            </a:pPr>
            <a:r>
              <a:rPr lang="en-US" sz="1300" dirty="0">
                <a:solidFill>
                  <a:schemeClr val="accent4"/>
                </a:solidFill>
              </a:rPr>
              <a:t>rows processed</a:t>
            </a:r>
            <a:endParaRPr lang="en-US" sz="1300" dirty="0"/>
          </a:p>
        </p:txBody>
      </p:sp>
      <p:sp>
        <p:nvSpPr>
          <p:cNvPr id="14" name="stat-card-2"/>
          <p:cNvSpPr/>
          <p:nvPr/>
        </p:nvSpPr>
        <p:spPr>
          <a:xfrm>
            <a:off x="548640" y="5074920"/>
            <a:ext cx="2514600" cy="1051560"/>
          </a:xfrm>
          <a:prstGeom prst="roundRect">
            <a:avLst>
              <a:gd name="adj" fmla="val 10435"/>
            </a:avLst>
          </a:prstGeom>
          <a:solidFill>
            <a:schemeClr val="bg2"/>
          </a:solidFill>
          <a:ln/>
        </p:spPr>
      </p:sp>
      <p:sp>
        <p:nvSpPr>
          <p:cNvPr id="15" name="stat-2"/>
          <p:cNvSpPr txBox="1"/>
          <p:nvPr/>
        </p:nvSpPr>
        <p:spPr>
          <a:xfrm>
            <a:off x="777240" y="5184648"/>
            <a:ext cx="2103120" cy="548640"/>
          </a:xfrm>
          <a:prstGeom prst="rect">
            <a:avLst/>
          </a:prstGeom>
          <a:noFill/>
          <a:ln/>
        </p:spPr>
        <p:txBody>
          <a:bodyPr wrap="square" lIns="0" tIns="0" rIns="0" bIns="0" rtlCol="0" anchor="t"/>
          <a:lstStyle/>
          <a:p>
            <a:pPr indent="0" marL="0">
              <a:buNone/>
            </a:pPr>
            <a:r>
              <a:rPr lang="en-US" sz="3000" b="1" dirty="0">
                <a:solidFill>
                  <a:schemeClr val="tx2"/>
                </a:solidFill>
              </a:rPr>
              <a:t>10</a:t>
            </a:r>
            <a:endParaRPr lang="en-US" sz="3000" dirty="0"/>
          </a:p>
        </p:txBody>
      </p:sp>
      <p:sp>
        <p:nvSpPr>
          <p:cNvPr id="16" name="stat-label-2"/>
          <p:cNvSpPr txBox="1"/>
          <p:nvPr/>
        </p:nvSpPr>
        <p:spPr>
          <a:xfrm>
            <a:off x="777240" y="5733288"/>
            <a:ext cx="2194560" cy="320040"/>
          </a:xfrm>
          <a:prstGeom prst="rect">
            <a:avLst/>
          </a:prstGeom>
          <a:noFill/>
          <a:ln/>
        </p:spPr>
        <p:txBody>
          <a:bodyPr wrap="square" lIns="0" tIns="0" rIns="0" bIns="0" rtlCol="0" anchor="t"/>
          <a:lstStyle/>
          <a:p>
            <a:pPr indent="0" marL="0">
              <a:buNone/>
            </a:pPr>
            <a:r>
              <a:rPr lang="en-US" sz="1300" dirty="0">
                <a:solidFill>
                  <a:schemeClr val="accent4"/>
                </a:solidFill>
              </a:rPr>
              <a:t>city questions answered</a:t>
            </a:r>
            <a:endParaRPr lang="en-US" sz="1300" dirty="0"/>
          </a:p>
        </p:txBody>
      </p:sp>
      <p:sp>
        <p:nvSpPr>
          <p:cNvPr id="17" name="stat-card-3"/>
          <p:cNvSpPr/>
          <p:nvPr/>
        </p:nvSpPr>
        <p:spPr>
          <a:xfrm>
            <a:off x="3154680" y="5074920"/>
            <a:ext cx="2514600" cy="1051560"/>
          </a:xfrm>
          <a:prstGeom prst="roundRect">
            <a:avLst>
              <a:gd name="adj" fmla="val 10435"/>
            </a:avLst>
          </a:prstGeom>
          <a:solidFill>
            <a:schemeClr val="bg2"/>
          </a:solidFill>
          <a:ln/>
        </p:spPr>
      </p:sp>
      <p:sp>
        <p:nvSpPr>
          <p:cNvPr id="18" name="stat-3"/>
          <p:cNvSpPr txBox="1"/>
          <p:nvPr/>
        </p:nvSpPr>
        <p:spPr>
          <a:xfrm>
            <a:off x="3383280" y="5184648"/>
            <a:ext cx="2103120" cy="548640"/>
          </a:xfrm>
          <a:prstGeom prst="rect">
            <a:avLst/>
          </a:prstGeom>
          <a:noFill/>
          <a:ln/>
        </p:spPr>
        <p:txBody>
          <a:bodyPr wrap="square" lIns="0" tIns="0" rIns="0" bIns="0" rtlCol="0" anchor="t"/>
          <a:lstStyle/>
          <a:p>
            <a:pPr indent="0" marL="0">
              <a:buNone/>
            </a:pPr>
            <a:r>
              <a:rPr lang="en-US" sz="3000" b="1" dirty="0">
                <a:solidFill>
                  <a:schemeClr val="tx2"/>
                </a:solidFill>
              </a:rPr>
              <a:t>5</a:t>
            </a:r>
            <a:endParaRPr lang="en-US" sz="3000" dirty="0"/>
          </a:p>
        </p:txBody>
      </p:sp>
      <p:sp>
        <p:nvSpPr>
          <p:cNvPr id="19" name="stat-label-3"/>
          <p:cNvSpPr txBox="1"/>
          <p:nvPr/>
        </p:nvSpPr>
        <p:spPr>
          <a:xfrm>
            <a:off x="3383280" y="5733288"/>
            <a:ext cx="2194560" cy="320040"/>
          </a:xfrm>
          <a:prstGeom prst="rect">
            <a:avLst/>
          </a:prstGeom>
          <a:noFill/>
          <a:ln/>
        </p:spPr>
        <p:txBody>
          <a:bodyPr wrap="square" lIns="0" tIns="0" rIns="0" bIns="0" rtlCol="0" anchor="t"/>
          <a:lstStyle/>
          <a:p>
            <a:pPr indent="0" marL="0">
              <a:buNone/>
            </a:pPr>
            <a:r>
              <a:rPr lang="en-US" sz="1300" dirty="0">
                <a:solidFill>
                  <a:schemeClr val="accent4"/>
                </a:solidFill>
              </a:rPr>
              <a:t>optimizations measured</a:t>
            </a:r>
            <a:endParaRPr lang="en-US" sz="1300" dirty="0"/>
          </a:p>
        </p:txBody>
      </p:sp>
      <p:sp>
        <p:nvSpPr>
          <p:cNvPr id="20" name="idea-head"/>
          <p:cNvSpPr txBox="1"/>
          <p:nvPr/>
        </p:nvSpPr>
        <p:spPr>
          <a:xfrm>
            <a:off x="6172200" y="1371600"/>
            <a:ext cx="5486400" cy="457200"/>
          </a:xfrm>
          <a:prstGeom prst="rect">
            <a:avLst/>
          </a:prstGeom>
          <a:noFill/>
          <a:ln/>
        </p:spPr>
        <p:txBody>
          <a:bodyPr wrap="square" lIns="0" tIns="0" rIns="0" bIns="0" rtlCol="0" anchor="t"/>
          <a:lstStyle/>
          <a:p>
            <a:pPr indent="0" marL="0">
              <a:buNone/>
            </a:pPr>
            <a:r>
              <a:rPr lang="en-US" sz="2000" b="1" dirty="0">
                <a:solidFill>
                  <a:schemeClr val="tx1"/>
                </a:solidFill>
              </a:rPr>
              <a:t>Our idea: act as New York City's data team</a:t>
            </a:r>
            <a:endParaRPr lang="en-US" sz="2000" dirty="0"/>
          </a:p>
        </p:txBody>
      </p:sp>
      <p:sp>
        <p:nvSpPr>
          <p:cNvPr id="21" name="step-dot-0"/>
          <p:cNvSpPr/>
          <p:nvPr/>
        </p:nvSpPr>
        <p:spPr>
          <a:xfrm>
            <a:off x="6172200" y="2011680"/>
            <a:ext cx="548640" cy="548640"/>
          </a:xfrm>
          <a:prstGeom prst="ellipse">
            <a:avLst/>
          </a:prstGeom>
          <a:solidFill>
            <a:schemeClr val="accent1"/>
          </a:solidFill>
          <a:ln/>
        </p:spPr>
      </p:sp>
      <p:sp>
        <p:nvSpPr>
          <p:cNvPr id="22" name="step-num-0"/>
          <p:cNvSpPr txBox="1"/>
          <p:nvPr/>
        </p:nvSpPr>
        <p:spPr>
          <a:xfrm>
            <a:off x="6172200" y="20116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3" name="step-text-0"/>
          <p:cNvSpPr txBox="1"/>
          <p:nvPr/>
        </p:nvSpPr>
        <p:spPr>
          <a:xfrm>
            <a:off x="6903720" y="1965960"/>
            <a:ext cx="4754880" cy="731520"/>
          </a:xfrm>
          <a:prstGeom prst="rect">
            <a:avLst/>
          </a:prstGeom>
          <a:noFill/>
          <a:ln/>
        </p:spPr>
        <p:txBody>
          <a:bodyPr wrap="square" lIns="0" tIns="0" rIns="0" bIns="0" rtlCol="0" anchor="t"/>
          <a:lstStyle/>
          <a:p>
            <a:pPr indent="0" marL="0">
              <a:buNone/>
            </a:pPr>
            <a:r>
              <a:rPr lang="en-US" sz="1500" b="1" dirty="0">
                <a:solidFill>
                  <a:schemeClr val="tx1"/>
                </a:solidFill>
              </a:rPr>
              <a:t>Collect</a:t>
            </a:r>
            <a:endParaRPr lang="en-US" sz="1500" dirty="0"/>
          </a:p>
          <a:p>
            <a:pPr indent="0" marL="0">
              <a:buNone/>
            </a:pPr>
            <a:r>
              <a:rPr lang="en-US" sz="1500" dirty="0">
                <a:solidFill>
                  <a:schemeClr val="accent4"/>
                </a:solidFill>
              </a:rPr>
              <a:t>six real city datasets from files and web APIs, one of them live</a:t>
            </a:r>
            <a:endParaRPr lang="en-US" sz="1500" dirty="0"/>
          </a:p>
        </p:txBody>
      </p:sp>
      <p:sp>
        <p:nvSpPr>
          <p:cNvPr id="24" name="step-dot-1"/>
          <p:cNvSpPr/>
          <p:nvPr/>
        </p:nvSpPr>
        <p:spPr>
          <a:xfrm>
            <a:off x="6172200" y="2862072"/>
            <a:ext cx="548640" cy="548640"/>
          </a:xfrm>
          <a:prstGeom prst="ellipse">
            <a:avLst/>
          </a:prstGeom>
          <a:solidFill>
            <a:schemeClr val="accent1"/>
          </a:solidFill>
          <a:ln/>
        </p:spPr>
      </p:sp>
      <p:sp>
        <p:nvSpPr>
          <p:cNvPr id="25" name="step-num-1"/>
          <p:cNvSpPr txBox="1"/>
          <p:nvPr/>
        </p:nvSpPr>
        <p:spPr>
          <a:xfrm>
            <a:off x="6172200" y="286207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6" name="step-text-1"/>
          <p:cNvSpPr txBox="1"/>
          <p:nvPr/>
        </p:nvSpPr>
        <p:spPr>
          <a:xfrm>
            <a:off x="6903720" y="2816352"/>
            <a:ext cx="4754880" cy="731520"/>
          </a:xfrm>
          <a:prstGeom prst="rect">
            <a:avLst/>
          </a:prstGeom>
          <a:noFill/>
          <a:ln/>
        </p:spPr>
        <p:txBody>
          <a:bodyPr wrap="square" lIns="0" tIns="0" rIns="0" bIns="0" rtlCol="0" anchor="t"/>
          <a:lstStyle/>
          <a:p>
            <a:pPr indent="0" marL="0">
              <a:buNone/>
            </a:pPr>
            <a:r>
              <a:rPr lang="en-US" sz="1500" b="1" dirty="0">
                <a:solidFill>
                  <a:schemeClr val="tx1"/>
                </a:solidFill>
              </a:rPr>
              <a:t>Load</a:t>
            </a:r>
            <a:endParaRPr lang="en-US" sz="1500" dirty="0"/>
          </a:p>
          <a:p>
            <a:pPr indent="0" marL="0">
              <a:buNone/>
            </a:pPr>
            <a:r>
              <a:rPr lang="en-US" sz="1500" dirty="0">
                <a:solidFill>
                  <a:schemeClr val="accent4"/>
                </a:solidFill>
              </a:rPr>
              <a:t>each source into a Spark DataFrame</a:t>
            </a:r>
            <a:endParaRPr lang="en-US" sz="1500" dirty="0"/>
          </a:p>
        </p:txBody>
      </p:sp>
      <p:sp>
        <p:nvSpPr>
          <p:cNvPr id="27" name="step-dot-2"/>
          <p:cNvSpPr/>
          <p:nvPr/>
        </p:nvSpPr>
        <p:spPr>
          <a:xfrm>
            <a:off x="6172200" y="3712464"/>
            <a:ext cx="548640" cy="548640"/>
          </a:xfrm>
          <a:prstGeom prst="ellipse">
            <a:avLst/>
          </a:prstGeom>
          <a:solidFill>
            <a:schemeClr val="accent1"/>
          </a:solidFill>
          <a:ln/>
        </p:spPr>
      </p:sp>
      <p:sp>
        <p:nvSpPr>
          <p:cNvPr id="28" name="step-num-2"/>
          <p:cNvSpPr txBox="1"/>
          <p:nvPr/>
        </p:nvSpPr>
        <p:spPr>
          <a:xfrm>
            <a:off x="6172200" y="3712464"/>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9" name="step-text-2"/>
          <p:cNvSpPr txBox="1"/>
          <p:nvPr/>
        </p:nvSpPr>
        <p:spPr>
          <a:xfrm>
            <a:off x="6903720" y="3666744"/>
            <a:ext cx="4754880" cy="731520"/>
          </a:xfrm>
          <a:prstGeom prst="rect">
            <a:avLst/>
          </a:prstGeom>
          <a:noFill/>
          <a:ln/>
        </p:spPr>
        <p:txBody>
          <a:bodyPr wrap="square" lIns="0" tIns="0" rIns="0" bIns="0" rtlCol="0" anchor="t"/>
          <a:lstStyle/>
          <a:p>
            <a:pPr indent="0" marL="0">
              <a:buNone/>
            </a:pPr>
            <a:r>
              <a:rPr lang="en-US" sz="1500" b="1" dirty="0">
                <a:solidFill>
                  <a:schemeClr val="tx1"/>
                </a:solidFill>
              </a:rPr>
              <a:t>Clean</a:t>
            </a:r>
            <a:endParaRPr lang="en-US" sz="1500" dirty="0"/>
          </a:p>
          <a:p>
            <a:pPr indent="0" marL="0">
              <a:buNone/>
            </a:pPr>
            <a:r>
              <a:rPr lang="en-US" sz="1500" dirty="0">
                <a:solidFill>
                  <a:schemeClr val="accent4"/>
                </a:solidFill>
              </a:rPr>
              <a:t>with explicit data-quality rules</a:t>
            </a:r>
            <a:endParaRPr lang="en-US" sz="1500" dirty="0"/>
          </a:p>
        </p:txBody>
      </p:sp>
      <p:sp>
        <p:nvSpPr>
          <p:cNvPr id="30" name="step-dot-3"/>
          <p:cNvSpPr/>
          <p:nvPr/>
        </p:nvSpPr>
        <p:spPr>
          <a:xfrm>
            <a:off x="6172200" y="4562856"/>
            <a:ext cx="548640" cy="548640"/>
          </a:xfrm>
          <a:prstGeom prst="ellipse">
            <a:avLst/>
          </a:prstGeom>
          <a:solidFill>
            <a:schemeClr val="accent1"/>
          </a:solidFill>
          <a:ln/>
        </p:spPr>
      </p:sp>
      <p:sp>
        <p:nvSpPr>
          <p:cNvPr id="31" name="step-num-3"/>
          <p:cNvSpPr txBox="1"/>
          <p:nvPr/>
        </p:nvSpPr>
        <p:spPr>
          <a:xfrm>
            <a:off x="6172200" y="4562856"/>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32" name="step-text-3"/>
          <p:cNvSpPr txBox="1"/>
          <p:nvPr/>
        </p:nvSpPr>
        <p:spPr>
          <a:xfrm>
            <a:off x="6903720" y="4517136"/>
            <a:ext cx="4754880" cy="731520"/>
          </a:xfrm>
          <a:prstGeom prst="rect">
            <a:avLst/>
          </a:prstGeom>
          <a:noFill/>
          <a:ln/>
        </p:spPr>
        <p:txBody>
          <a:bodyPr wrap="square" lIns="0" tIns="0" rIns="0" bIns="0" rtlCol="0" anchor="t"/>
          <a:lstStyle/>
          <a:p>
            <a:pPr indent="0" marL="0">
              <a:buNone/>
            </a:pPr>
            <a:r>
              <a:rPr lang="en-US" sz="1500" b="1" dirty="0">
                <a:solidFill>
                  <a:schemeClr val="tx1"/>
                </a:solidFill>
              </a:rPr>
              <a:t>Answer</a:t>
            </a:r>
            <a:endParaRPr lang="en-US" sz="1500" dirty="0"/>
          </a:p>
          <a:p>
            <a:pPr indent="0" marL="0">
              <a:buNone/>
            </a:pPr>
            <a:r>
              <a:rPr lang="en-US" sz="1500" dirty="0">
                <a:solidFill>
                  <a:schemeClr val="accent4"/>
                </a:solidFill>
              </a:rPr>
              <a:t>10 questions a city operations team would ask</a:t>
            </a:r>
            <a:endParaRPr lang="en-US" sz="1500" dirty="0"/>
          </a:p>
        </p:txBody>
      </p:sp>
      <p:sp>
        <p:nvSpPr>
          <p:cNvPr id="33" name="step-dot-4"/>
          <p:cNvSpPr/>
          <p:nvPr/>
        </p:nvSpPr>
        <p:spPr>
          <a:xfrm>
            <a:off x="6172200" y="5413248"/>
            <a:ext cx="548640" cy="548640"/>
          </a:xfrm>
          <a:prstGeom prst="ellipse">
            <a:avLst/>
          </a:prstGeom>
          <a:solidFill>
            <a:schemeClr val="accent1"/>
          </a:solidFill>
          <a:ln/>
        </p:spPr>
      </p:sp>
      <p:sp>
        <p:nvSpPr>
          <p:cNvPr id="34" name="step-num-4"/>
          <p:cNvSpPr txBox="1"/>
          <p:nvPr/>
        </p:nvSpPr>
        <p:spPr>
          <a:xfrm>
            <a:off x="6172200" y="541324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5" name="step-text-4"/>
          <p:cNvSpPr txBox="1"/>
          <p:nvPr/>
        </p:nvSpPr>
        <p:spPr>
          <a:xfrm>
            <a:off x="6903720" y="5367528"/>
            <a:ext cx="4754880" cy="731520"/>
          </a:xfrm>
          <a:prstGeom prst="rect">
            <a:avLst/>
          </a:prstGeom>
          <a:noFill/>
          <a:ln/>
        </p:spPr>
        <p:txBody>
          <a:bodyPr wrap="square" lIns="0" tIns="0" rIns="0" bIns="0" rtlCol="0" anchor="t"/>
          <a:lstStyle/>
          <a:p>
            <a:pPr indent="0" marL="0">
              <a:buNone/>
            </a:pPr>
            <a:r>
              <a:rPr lang="en-US" sz="1500" b="1" dirty="0">
                <a:solidFill>
                  <a:schemeClr val="tx1"/>
                </a:solidFill>
              </a:rPr>
              <a:t>Speed up and measure</a:t>
            </a:r>
            <a:endParaRPr lang="en-US" sz="1500" dirty="0"/>
          </a:p>
          <a:p>
            <a:pPr indent="0" marL="0">
              <a:buNone/>
            </a:pPr>
            <a:r>
              <a:rPr lang="en-US" sz="1500" dirty="0">
                <a:solidFill>
                  <a:schemeClr val="accent4"/>
                </a:solidFill>
              </a:rPr>
              <a:t>5 optimizations, Pandas vs Spark, 1 core vs many</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is Apache Spark?</a:t>
            </a:r>
            <a:endParaRPr lang="en-US" sz="3600" dirty="0"/>
          </a:p>
        </p:txBody>
      </p:sp>
      <p:sp>
        <p:nvSpPr>
          <p:cNvPr id="3" name="spark-row-0-circle"/>
          <p:cNvSpPr/>
          <p:nvPr/>
        </p:nvSpPr>
        <p:spPr>
          <a:xfrm>
            <a:off x="548640" y="1371600"/>
            <a:ext cx="731520" cy="731520"/>
          </a:xfrm>
          <a:prstGeom prst="ellipse">
            <a:avLst/>
          </a:prstGeom>
          <a:solidFill>
            <a:schemeClr val="accent1"/>
          </a:solidFill>
          <a:ln/>
        </p:spPr>
      </p:sp>
      <p:pic>
        <p:nvPicPr>
          <p:cNvPr id="4" name="spark-row-0-icon" descr="Bolt icon">    </p:cNvPr>
          <p:cNvPicPr>
            <a:picLocks noChangeAspect="1"/>
          </p:cNvPicPr>
          <p:nvPr/>
        </p:nvPicPr>
        <p:blipFill>
          <a:blip r:embed="rId1"/>
          <a:stretch>
            <a:fillRect/>
          </a:stretch>
        </p:blipFill>
        <p:spPr>
          <a:xfrm>
            <a:off x="731520" y="1554480"/>
            <a:ext cx="365760" cy="365760"/>
          </a:xfrm>
          <a:prstGeom prst="rect">
            <a:avLst/>
          </a:prstGeom>
        </p:spPr>
      </p:pic>
      <p:sp>
        <p:nvSpPr>
          <p:cNvPr id="5" name="spark-text-0"/>
          <p:cNvSpPr txBox="1"/>
          <p:nvPr/>
        </p:nvSpPr>
        <p:spPr>
          <a:xfrm>
            <a:off x="1508760" y="1353312"/>
            <a:ext cx="4754880" cy="1051560"/>
          </a:xfrm>
          <a:prstGeom prst="rect">
            <a:avLst/>
          </a:prstGeom>
          <a:noFill/>
          <a:ln/>
        </p:spPr>
        <p:txBody>
          <a:bodyPr wrap="square" lIns="0" tIns="0" rIns="0" bIns="0" rtlCol="0" anchor="t"/>
          <a:lstStyle/>
          <a:p>
            <a:pPr indent="0" marL="0">
              <a:buNone/>
            </a:pPr>
            <a:r>
              <a:rPr lang="en-US" sz="1800" b="1" dirty="0">
                <a:solidFill>
                  <a:schemeClr val="tx1"/>
                </a:solidFill>
              </a:rPr>
              <a:t>Apache Spark</a:t>
            </a:r>
            <a:endParaRPr lang="en-US" sz="1400" dirty="0"/>
          </a:p>
          <a:p>
            <a:pPr indent="0" marL="0">
              <a:buNone/>
            </a:pPr>
            <a:r>
              <a:rPr lang="en-US" sz="1400" dirty="0">
                <a:solidFill>
                  <a:schemeClr val="accent4"/>
                </a:solidFill>
              </a:rPr>
              <a:t>Open-source engine that processes large data in parallel, keeping data in memory between steps</a:t>
            </a:r>
            <a:endParaRPr lang="en-US" sz="1400" dirty="0"/>
          </a:p>
        </p:txBody>
      </p:sp>
      <p:sp>
        <p:nvSpPr>
          <p:cNvPr id="6" name="spark-row-1-circle"/>
          <p:cNvSpPr/>
          <p:nvPr/>
        </p:nvSpPr>
        <p:spPr>
          <a:xfrm>
            <a:off x="548640" y="2560320"/>
            <a:ext cx="731520" cy="731520"/>
          </a:xfrm>
          <a:prstGeom prst="ellipse">
            <a:avLst/>
          </a:prstGeom>
          <a:solidFill>
            <a:schemeClr val="accent2"/>
          </a:solidFill>
          <a:ln/>
        </p:spPr>
      </p:sp>
      <p:pic>
        <p:nvPicPr>
          <p:cNvPr id="7" name="spark-row-1-icon" descr="Python icon">    </p:cNvPr>
          <p:cNvPicPr>
            <a:picLocks noChangeAspect="1"/>
          </p:cNvPicPr>
          <p:nvPr/>
        </p:nvPicPr>
        <p:blipFill>
          <a:blip r:embed="rId2"/>
          <a:stretch>
            <a:fillRect/>
          </a:stretch>
        </p:blipFill>
        <p:spPr>
          <a:xfrm>
            <a:off x="731520" y="2743200"/>
            <a:ext cx="365760" cy="365760"/>
          </a:xfrm>
          <a:prstGeom prst="rect">
            <a:avLst/>
          </a:prstGeom>
        </p:spPr>
      </p:pic>
      <p:sp>
        <p:nvSpPr>
          <p:cNvPr id="8" name="spark-text-1"/>
          <p:cNvSpPr txBox="1"/>
          <p:nvPr/>
        </p:nvSpPr>
        <p:spPr>
          <a:xfrm>
            <a:off x="1508760" y="2542032"/>
            <a:ext cx="4754880" cy="1051560"/>
          </a:xfrm>
          <a:prstGeom prst="rect">
            <a:avLst/>
          </a:prstGeom>
          <a:noFill/>
          <a:ln/>
        </p:spPr>
        <p:txBody>
          <a:bodyPr wrap="square" lIns="0" tIns="0" rIns="0" bIns="0" rtlCol="0" anchor="t"/>
          <a:lstStyle/>
          <a:p>
            <a:pPr indent="0" marL="0">
              <a:buNone/>
            </a:pPr>
            <a:r>
              <a:rPr lang="en-US" sz="1800" b="1" dirty="0">
                <a:solidFill>
                  <a:schemeClr val="tx1"/>
                </a:solidFill>
              </a:rPr>
              <a:t>PySpark</a:t>
            </a:r>
            <a:endParaRPr lang="en-US" sz="1400" dirty="0"/>
          </a:p>
          <a:p>
            <a:pPr indent="0" marL="0">
              <a:buNone/>
            </a:pPr>
            <a:r>
              <a:rPr lang="en-US" sz="1400" dirty="0">
                <a:solidFill>
                  <a:schemeClr val="accent4"/>
                </a:solidFill>
              </a:rPr>
              <a:t>The Python library for Spark. Our notebook code; Spark's engine runs on Java (JVM)</a:t>
            </a:r>
            <a:endParaRPr lang="en-US" sz="1400" dirty="0"/>
          </a:p>
        </p:txBody>
      </p:sp>
      <p:sp>
        <p:nvSpPr>
          <p:cNvPr id="9" name="spark-row-2-circle"/>
          <p:cNvSpPr/>
          <p:nvPr/>
        </p:nvSpPr>
        <p:spPr>
          <a:xfrm>
            <a:off x="548640" y="3749040"/>
            <a:ext cx="731520" cy="731520"/>
          </a:xfrm>
          <a:prstGeom prst="ellipse">
            <a:avLst/>
          </a:prstGeom>
          <a:solidFill>
            <a:schemeClr val="tx2"/>
          </a:solidFill>
          <a:ln/>
        </p:spPr>
      </p:sp>
      <p:pic>
        <p:nvPicPr>
          <p:cNvPr id="10" name="spark-row-2-icon" descr="Table icon">    </p:cNvPr>
          <p:cNvPicPr>
            <a:picLocks noChangeAspect="1"/>
          </p:cNvPicPr>
          <p:nvPr/>
        </p:nvPicPr>
        <p:blipFill>
          <a:blip r:embed="rId3"/>
          <a:stretch>
            <a:fillRect/>
          </a:stretch>
        </p:blipFill>
        <p:spPr>
          <a:xfrm>
            <a:off x="731520" y="3931920"/>
            <a:ext cx="365760" cy="365760"/>
          </a:xfrm>
          <a:prstGeom prst="rect">
            <a:avLst/>
          </a:prstGeom>
        </p:spPr>
      </p:pic>
      <p:sp>
        <p:nvSpPr>
          <p:cNvPr id="11" name="spark-text-2"/>
          <p:cNvSpPr txBox="1"/>
          <p:nvPr/>
        </p:nvSpPr>
        <p:spPr>
          <a:xfrm>
            <a:off x="1508760" y="3730752"/>
            <a:ext cx="4754880" cy="1051560"/>
          </a:xfrm>
          <a:prstGeom prst="rect">
            <a:avLst/>
          </a:prstGeom>
          <a:noFill/>
          <a:ln/>
        </p:spPr>
        <p:txBody>
          <a:bodyPr wrap="square" lIns="0" tIns="0" rIns="0" bIns="0" rtlCol="0" anchor="t"/>
          <a:lstStyle/>
          <a:p>
            <a:pPr indent="0" marL="0">
              <a:buNone/>
            </a:pPr>
            <a:r>
              <a:rPr lang="en-US" sz="1800" b="1" dirty="0">
                <a:solidFill>
                  <a:schemeClr val="tx1"/>
                </a:solidFill>
              </a:rPr>
              <a:t>Spark SQL</a:t>
            </a:r>
            <a:endParaRPr lang="en-US" sz="1400" dirty="0"/>
          </a:p>
          <a:p>
            <a:pPr indent="0" marL="0">
              <a:buNone/>
            </a:pPr>
            <a:r>
              <a:rPr lang="en-US" sz="1400" dirty="0">
                <a:solidFill>
                  <a:schemeClr val="accent4"/>
                </a:solidFill>
              </a:rPr>
              <a:t>The module for tables: DataFrames and SQL queries share the same optimizer</a:t>
            </a:r>
            <a:endParaRPr lang="en-US" sz="1400" dirty="0"/>
          </a:p>
        </p:txBody>
      </p:sp>
      <p:sp>
        <p:nvSpPr>
          <p:cNvPr id="12" name="spark-row-3-circle"/>
          <p:cNvSpPr/>
          <p:nvPr/>
        </p:nvSpPr>
        <p:spPr>
          <a:xfrm>
            <a:off x="548640" y="4937760"/>
            <a:ext cx="731520" cy="731520"/>
          </a:xfrm>
          <a:prstGeom prst="ellipse">
            <a:avLst/>
          </a:prstGeom>
          <a:solidFill>
            <a:schemeClr val="accent4"/>
          </a:solidFill>
          <a:ln/>
        </p:spPr>
      </p:sp>
      <p:pic>
        <p:nvPicPr>
          <p:cNvPr id="13" name="spark-row-3-icon" descr="Desktop icon">    </p:cNvPr>
          <p:cNvPicPr>
            <a:picLocks noChangeAspect="1"/>
          </p:cNvPicPr>
          <p:nvPr/>
        </p:nvPicPr>
        <p:blipFill>
          <a:blip r:embed="rId4"/>
          <a:stretch>
            <a:fillRect/>
          </a:stretch>
        </p:blipFill>
        <p:spPr>
          <a:xfrm>
            <a:off x="731520" y="5120640"/>
            <a:ext cx="365760" cy="365760"/>
          </a:xfrm>
          <a:prstGeom prst="rect">
            <a:avLst/>
          </a:prstGeom>
        </p:spPr>
      </p:pic>
      <p:sp>
        <p:nvSpPr>
          <p:cNvPr id="14" name="spark-text-3"/>
          <p:cNvSpPr txBox="1"/>
          <p:nvPr/>
        </p:nvSpPr>
        <p:spPr>
          <a:xfrm>
            <a:off x="1508760" y="4919472"/>
            <a:ext cx="4754880" cy="1051560"/>
          </a:xfrm>
          <a:prstGeom prst="rect">
            <a:avLst/>
          </a:prstGeom>
          <a:noFill/>
          <a:ln/>
        </p:spPr>
        <p:txBody>
          <a:bodyPr wrap="square" lIns="0" tIns="0" rIns="0" bIns="0" rtlCol="0" anchor="t"/>
          <a:lstStyle/>
          <a:p>
            <a:pPr indent="0" marL="0">
              <a:buNone/>
            </a:pPr>
            <a:r>
              <a:rPr lang="en-US" sz="1800" b="1" dirty="0">
                <a:solidFill>
                  <a:schemeClr val="tx1"/>
                </a:solidFill>
              </a:rPr>
              <a:t>Spark UI</a:t>
            </a:r>
            <a:endParaRPr lang="en-US" sz="1400" dirty="0"/>
          </a:p>
          <a:p>
            <a:pPr indent="0" marL="0">
              <a:buNone/>
            </a:pPr>
            <a:r>
              <a:rPr lang="en-US" sz="1400" dirty="0">
                <a:solidFill>
                  <a:schemeClr val="accent4"/>
                </a:solidFill>
              </a:rPr>
              <a:t>Web dashboard (port 4040) showing every job, stage, task, cache and query plan</a:t>
            </a:r>
            <a:endParaRPr lang="en-US" sz="1400" dirty="0"/>
          </a:p>
        </p:txBody>
      </p:sp>
      <p:sp>
        <p:nvSpPr>
          <p:cNvPr id="15" name="arch-bg"/>
          <p:cNvSpPr/>
          <p:nvPr/>
        </p:nvSpPr>
        <p:spPr>
          <a:xfrm>
            <a:off x="6675120" y="1325880"/>
            <a:ext cx="4937760" cy="4846320"/>
          </a:xfrm>
          <a:prstGeom prst="roundRect">
            <a:avLst>
              <a:gd name="adj" fmla="val 2264"/>
            </a:avLst>
          </a:prstGeom>
          <a:solidFill>
            <a:schemeClr val="bg2"/>
          </a:solidFill>
          <a:ln/>
        </p:spPr>
      </p:sp>
      <p:sp>
        <p:nvSpPr>
          <p:cNvPr id="16" name="driver-box"/>
          <p:cNvSpPr/>
          <p:nvPr/>
        </p:nvSpPr>
        <p:spPr>
          <a:xfrm>
            <a:off x="7772400" y="1554480"/>
            <a:ext cx="2743200" cy="914400"/>
          </a:xfrm>
          <a:prstGeom prst="roundRect">
            <a:avLst>
              <a:gd name="adj" fmla="val 10000"/>
            </a:avLst>
          </a:prstGeom>
          <a:solidFill>
            <a:schemeClr val="tx2"/>
          </a:solidFill>
          <a:ln/>
        </p:spPr>
      </p:sp>
      <p:sp>
        <p:nvSpPr>
          <p:cNvPr id="17" name="driver-text"/>
          <p:cNvSpPr txBox="1"/>
          <p:nvPr/>
        </p:nvSpPr>
        <p:spPr>
          <a:xfrm>
            <a:off x="7863840" y="1600200"/>
            <a:ext cx="2560320" cy="822960"/>
          </a:xfrm>
          <a:prstGeom prst="rect">
            <a:avLst/>
          </a:prstGeom>
          <a:noFill/>
          <a:ln/>
        </p:spPr>
        <p:txBody>
          <a:bodyPr wrap="square" lIns="0" tIns="0" rIns="0" bIns="0" rtlCol="0" anchor="ctr"/>
          <a:lstStyle/>
          <a:p>
            <a:pPr algn="ctr" indent="0" marL="0">
              <a:buNone/>
            </a:pPr>
            <a:r>
              <a:rPr lang="en-US" sz="1500" b="1" dirty="0">
                <a:solidFill>
                  <a:schemeClr val="bg1"/>
                </a:solidFill>
              </a:rPr>
              <a:t>Driver</a:t>
            </a:r>
            <a:endParaRPr lang="en-US" sz="1500" dirty="0"/>
          </a:p>
          <a:p>
            <a:pPr algn="ctr" indent="0" marL="0">
              <a:buNone/>
            </a:pPr>
            <a:r>
              <a:rPr lang="en-US" sz="1100" dirty="0">
                <a:solidFill>
                  <a:schemeClr val="bg1"/>
                </a:solidFill>
              </a:rPr>
              <a:t>our notebook: builds the plan, splits it into tasks</a:t>
            </a:r>
            <a:endParaRPr lang="en-US" sz="1500" dirty="0"/>
          </a:p>
        </p:txBody>
      </p:sp>
      <p:sp>
        <p:nvSpPr>
          <p:cNvPr id="18" name="arrow-0"/>
          <p:cNvSpPr/>
          <p:nvPr/>
        </p:nvSpPr>
        <p:spPr>
          <a:xfrm flipH="1">
            <a:off x="7589520" y="2468880"/>
            <a:ext cx="1554480" cy="685800"/>
          </a:xfrm>
          <a:prstGeom prst="line">
            <a:avLst/>
          </a:prstGeom>
          <a:noFill/>
          <a:ln w="19050">
            <a:solidFill>
              <a:schemeClr val="accent4"/>
            </a:solidFill>
            <a:prstDash val="solid"/>
            <a:tailEnd type="triangle"/>
          </a:ln>
        </p:spPr>
      </p:sp>
      <p:sp>
        <p:nvSpPr>
          <p:cNvPr id="19" name="exec-0"/>
          <p:cNvSpPr/>
          <p:nvPr/>
        </p:nvSpPr>
        <p:spPr>
          <a:xfrm>
            <a:off x="6949440" y="3200400"/>
            <a:ext cx="1280160" cy="1417320"/>
          </a:xfrm>
          <a:prstGeom prst="roundRect">
            <a:avLst>
              <a:gd name="adj" fmla="val 7143"/>
            </a:avLst>
          </a:prstGeom>
          <a:solidFill>
            <a:schemeClr val="bg1"/>
          </a:solidFill>
          <a:ln w="19050">
            <a:solidFill>
              <a:schemeClr val="accent2"/>
            </a:solidFill>
            <a:prstDash val="solid"/>
          </a:ln>
        </p:spPr>
      </p:sp>
      <p:sp>
        <p:nvSpPr>
          <p:cNvPr id="20" name="exec-label-0"/>
          <p:cNvSpPr txBox="1"/>
          <p:nvPr/>
        </p:nvSpPr>
        <p:spPr>
          <a:xfrm>
            <a:off x="6949440" y="3273552"/>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Executor</a:t>
            </a:r>
            <a:endParaRPr lang="en-US" sz="1300" dirty="0"/>
          </a:p>
        </p:txBody>
      </p:sp>
      <p:sp>
        <p:nvSpPr>
          <p:cNvPr id="21" name="part-0-0"/>
          <p:cNvSpPr/>
          <p:nvPr/>
        </p:nvSpPr>
        <p:spPr>
          <a:xfrm>
            <a:off x="7132320" y="3703320"/>
            <a:ext cx="411480" cy="411480"/>
          </a:xfrm>
          <a:prstGeom prst="rect">
            <a:avLst/>
          </a:prstGeom>
          <a:solidFill>
            <a:schemeClr val="accent2"/>
          </a:solidFill>
          <a:ln/>
        </p:spPr>
      </p:sp>
      <p:sp>
        <p:nvSpPr>
          <p:cNvPr id="22" name="part-0-1"/>
          <p:cNvSpPr/>
          <p:nvPr/>
        </p:nvSpPr>
        <p:spPr>
          <a:xfrm>
            <a:off x="7616952" y="3703320"/>
            <a:ext cx="411480" cy="411480"/>
          </a:xfrm>
          <a:prstGeom prst="rect">
            <a:avLst/>
          </a:prstGeom>
          <a:solidFill>
            <a:schemeClr val="accent1"/>
          </a:solidFill>
          <a:ln/>
        </p:spPr>
      </p:sp>
      <p:sp>
        <p:nvSpPr>
          <p:cNvPr id="23" name="part-label-0"/>
          <p:cNvSpPr txBox="1"/>
          <p:nvPr/>
        </p:nvSpPr>
        <p:spPr>
          <a:xfrm>
            <a:off x="6949440" y="4206240"/>
            <a:ext cx="1280160" cy="274320"/>
          </a:xfrm>
          <a:prstGeom prst="rect">
            <a:avLst/>
          </a:prstGeom>
          <a:noFill/>
          <a:ln/>
        </p:spPr>
        <p:txBody>
          <a:bodyPr wrap="square" lIns="0" tIns="0" rIns="0" bIns="0" rtlCol="0" anchor="t"/>
          <a:lstStyle/>
          <a:p>
            <a:pPr algn="ctr" indent="0" marL="0">
              <a:buNone/>
            </a:pPr>
            <a:r>
              <a:rPr lang="en-US" sz="1100" dirty="0">
                <a:solidFill>
                  <a:schemeClr val="accent4"/>
                </a:solidFill>
              </a:rPr>
              <a:t>partitions</a:t>
            </a:r>
            <a:endParaRPr lang="en-US" sz="1100" dirty="0"/>
          </a:p>
        </p:txBody>
      </p:sp>
      <p:sp>
        <p:nvSpPr>
          <p:cNvPr id="24" name="arrow-1"/>
          <p:cNvSpPr/>
          <p:nvPr/>
        </p:nvSpPr>
        <p:spPr>
          <a:xfrm flipH="1">
            <a:off x="9144000" y="2468880"/>
            <a:ext cx="9144" cy="685800"/>
          </a:xfrm>
          <a:prstGeom prst="line">
            <a:avLst/>
          </a:prstGeom>
          <a:noFill/>
          <a:ln w="19050">
            <a:solidFill>
              <a:schemeClr val="accent4"/>
            </a:solidFill>
            <a:prstDash val="solid"/>
            <a:tailEnd type="triangle"/>
          </a:ln>
        </p:spPr>
      </p:sp>
      <p:sp>
        <p:nvSpPr>
          <p:cNvPr id="25" name="exec-1"/>
          <p:cNvSpPr/>
          <p:nvPr/>
        </p:nvSpPr>
        <p:spPr>
          <a:xfrm>
            <a:off x="8503920" y="3200400"/>
            <a:ext cx="1280160" cy="1417320"/>
          </a:xfrm>
          <a:prstGeom prst="roundRect">
            <a:avLst>
              <a:gd name="adj" fmla="val 7143"/>
            </a:avLst>
          </a:prstGeom>
          <a:solidFill>
            <a:schemeClr val="bg1"/>
          </a:solidFill>
          <a:ln w="19050">
            <a:solidFill>
              <a:schemeClr val="accent2"/>
            </a:solidFill>
            <a:prstDash val="solid"/>
          </a:ln>
        </p:spPr>
      </p:sp>
      <p:sp>
        <p:nvSpPr>
          <p:cNvPr id="26" name="exec-label-1"/>
          <p:cNvSpPr txBox="1"/>
          <p:nvPr/>
        </p:nvSpPr>
        <p:spPr>
          <a:xfrm>
            <a:off x="8503920" y="3273552"/>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Executor</a:t>
            </a:r>
            <a:endParaRPr lang="en-US" sz="1300" dirty="0"/>
          </a:p>
        </p:txBody>
      </p:sp>
      <p:sp>
        <p:nvSpPr>
          <p:cNvPr id="27" name="part-1-0"/>
          <p:cNvSpPr/>
          <p:nvPr/>
        </p:nvSpPr>
        <p:spPr>
          <a:xfrm>
            <a:off x="8686800" y="3703320"/>
            <a:ext cx="411480" cy="411480"/>
          </a:xfrm>
          <a:prstGeom prst="rect">
            <a:avLst/>
          </a:prstGeom>
          <a:solidFill>
            <a:schemeClr val="accent2"/>
          </a:solidFill>
          <a:ln/>
        </p:spPr>
      </p:sp>
      <p:sp>
        <p:nvSpPr>
          <p:cNvPr id="28" name="part-1-1"/>
          <p:cNvSpPr/>
          <p:nvPr/>
        </p:nvSpPr>
        <p:spPr>
          <a:xfrm>
            <a:off x="9171432" y="3703320"/>
            <a:ext cx="411480" cy="411480"/>
          </a:xfrm>
          <a:prstGeom prst="rect">
            <a:avLst/>
          </a:prstGeom>
          <a:solidFill>
            <a:schemeClr val="accent1"/>
          </a:solidFill>
          <a:ln/>
        </p:spPr>
      </p:sp>
      <p:sp>
        <p:nvSpPr>
          <p:cNvPr id="29" name="part-label-1"/>
          <p:cNvSpPr txBox="1"/>
          <p:nvPr/>
        </p:nvSpPr>
        <p:spPr>
          <a:xfrm>
            <a:off x="8503920" y="4206240"/>
            <a:ext cx="1280160" cy="274320"/>
          </a:xfrm>
          <a:prstGeom prst="rect">
            <a:avLst/>
          </a:prstGeom>
          <a:noFill/>
          <a:ln/>
        </p:spPr>
        <p:txBody>
          <a:bodyPr wrap="square" lIns="0" tIns="0" rIns="0" bIns="0" rtlCol="0" anchor="t"/>
          <a:lstStyle/>
          <a:p>
            <a:pPr algn="ctr" indent="0" marL="0">
              <a:buNone/>
            </a:pPr>
            <a:r>
              <a:rPr lang="en-US" sz="1100" dirty="0">
                <a:solidFill>
                  <a:schemeClr val="accent4"/>
                </a:solidFill>
              </a:rPr>
              <a:t>partitions</a:t>
            </a:r>
            <a:endParaRPr lang="en-US" sz="1100" dirty="0"/>
          </a:p>
        </p:txBody>
      </p:sp>
      <p:sp>
        <p:nvSpPr>
          <p:cNvPr id="30" name="arrow-2"/>
          <p:cNvSpPr/>
          <p:nvPr/>
        </p:nvSpPr>
        <p:spPr>
          <a:xfrm>
            <a:off x="9144000" y="2468880"/>
            <a:ext cx="1554480" cy="685800"/>
          </a:xfrm>
          <a:prstGeom prst="line">
            <a:avLst/>
          </a:prstGeom>
          <a:noFill/>
          <a:ln w="19050">
            <a:solidFill>
              <a:schemeClr val="accent4"/>
            </a:solidFill>
            <a:prstDash val="solid"/>
            <a:tailEnd type="triangle"/>
          </a:ln>
        </p:spPr>
      </p:sp>
      <p:sp>
        <p:nvSpPr>
          <p:cNvPr id="31" name="exec-2"/>
          <p:cNvSpPr/>
          <p:nvPr/>
        </p:nvSpPr>
        <p:spPr>
          <a:xfrm>
            <a:off x="10058400" y="3200400"/>
            <a:ext cx="1280160" cy="1417320"/>
          </a:xfrm>
          <a:prstGeom prst="roundRect">
            <a:avLst>
              <a:gd name="adj" fmla="val 7143"/>
            </a:avLst>
          </a:prstGeom>
          <a:solidFill>
            <a:schemeClr val="bg1"/>
          </a:solidFill>
          <a:ln w="19050">
            <a:solidFill>
              <a:schemeClr val="accent2"/>
            </a:solidFill>
            <a:prstDash val="solid"/>
          </a:ln>
        </p:spPr>
      </p:sp>
      <p:sp>
        <p:nvSpPr>
          <p:cNvPr id="32" name="exec-label-2"/>
          <p:cNvSpPr txBox="1"/>
          <p:nvPr/>
        </p:nvSpPr>
        <p:spPr>
          <a:xfrm>
            <a:off x="10058400" y="3273552"/>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Executor</a:t>
            </a:r>
            <a:endParaRPr lang="en-US" sz="1300" dirty="0"/>
          </a:p>
        </p:txBody>
      </p:sp>
      <p:sp>
        <p:nvSpPr>
          <p:cNvPr id="33" name="part-2-0"/>
          <p:cNvSpPr/>
          <p:nvPr/>
        </p:nvSpPr>
        <p:spPr>
          <a:xfrm>
            <a:off x="10241280" y="3703320"/>
            <a:ext cx="411480" cy="411480"/>
          </a:xfrm>
          <a:prstGeom prst="rect">
            <a:avLst/>
          </a:prstGeom>
          <a:solidFill>
            <a:schemeClr val="accent2"/>
          </a:solidFill>
          <a:ln/>
        </p:spPr>
      </p:sp>
      <p:sp>
        <p:nvSpPr>
          <p:cNvPr id="34" name="part-2-1"/>
          <p:cNvSpPr/>
          <p:nvPr/>
        </p:nvSpPr>
        <p:spPr>
          <a:xfrm>
            <a:off x="10725912" y="3703320"/>
            <a:ext cx="411480" cy="411480"/>
          </a:xfrm>
          <a:prstGeom prst="rect">
            <a:avLst/>
          </a:prstGeom>
          <a:solidFill>
            <a:schemeClr val="accent1"/>
          </a:solidFill>
          <a:ln/>
        </p:spPr>
      </p:sp>
      <p:sp>
        <p:nvSpPr>
          <p:cNvPr id="35" name="part-label-2"/>
          <p:cNvSpPr txBox="1"/>
          <p:nvPr/>
        </p:nvSpPr>
        <p:spPr>
          <a:xfrm>
            <a:off x="10058400" y="4206240"/>
            <a:ext cx="1280160" cy="274320"/>
          </a:xfrm>
          <a:prstGeom prst="rect">
            <a:avLst/>
          </a:prstGeom>
          <a:noFill/>
          <a:ln/>
        </p:spPr>
        <p:txBody>
          <a:bodyPr wrap="square" lIns="0" tIns="0" rIns="0" bIns="0" rtlCol="0" anchor="t"/>
          <a:lstStyle/>
          <a:p>
            <a:pPr algn="ctr" indent="0" marL="0">
              <a:buNone/>
            </a:pPr>
            <a:r>
              <a:rPr lang="en-US" sz="1100" dirty="0">
                <a:solidFill>
                  <a:schemeClr val="accent4"/>
                </a:solidFill>
              </a:rPr>
              <a:t>partitions</a:t>
            </a:r>
            <a:endParaRPr lang="en-US" sz="1100" dirty="0"/>
          </a:p>
        </p:txBody>
      </p:sp>
      <p:sp>
        <p:nvSpPr>
          <p:cNvPr id="36" name="local-mode"/>
          <p:cNvSpPr txBox="1"/>
          <p:nvPr/>
        </p:nvSpPr>
        <p:spPr>
          <a:xfrm>
            <a:off x="6949440" y="4846320"/>
            <a:ext cx="4389120" cy="1188720"/>
          </a:xfrm>
          <a:prstGeom prst="rect">
            <a:avLst/>
          </a:prstGeom>
          <a:noFill/>
          <a:ln/>
        </p:spPr>
        <p:txBody>
          <a:bodyPr wrap="square" lIns="0" tIns="0" rIns="0" bIns="0" rtlCol="0" anchor="t"/>
          <a:lstStyle/>
          <a:p>
            <a:pPr indent="0" marL="0">
              <a:buNone/>
            </a:pPr>
            <a:r>
              <a:rPr lang="en-US" sz="1400" b="1" dirty="0">
                <a:solidFill>
                  <a:schemeClr val="tx1"/>
                </a:solidFill>
              </a:rPr>
              <a:t>Local mode (local[*]): </a:t>
            </a:r>
            <a:pPr indent="0" marL="0">
              <a:buNone/>
            </a:pPr>
            <a:r>
              <a:rPr lang="en-US" sz="1400" dirty="0">
                <a:solidFill>
                  <a:schemeClr val="tx1"/>
                </a:solidFill>
              </a:rPr>
              <a:t>driver and executors run on one machine, and every CPU core is a worker. On a cluster the same code runs; only the master setting changes.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Spark DataFrames: tables built for scale</a:t>
            </a:r>
            <a:endParaRPr lang="en-US" sz="3600" dirty="0"/>
          </a:p>
        </p:txBody>
      </p:sp>
      <p:sp>
        <p:nvSpPr>
          <p:cNvPr id="3" name="df-def"/>
          <p:cNvSpPr txBox="1"/>
          <p:nvPr/>
        </p:nvSpPr>
        <p:spPr>
          <a:xfrm>
            <a:off x="548640" y="12344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 DataFrame is a table with named, typed columns, like a spreadsheet, that Spark splits into partitions and processes in parallel.</a:t>
            </a:r>
            <a:endParaRPr lang="en-US" sz="1600" dirty="0"/>
          </a:p>
        </p:txBody>
      </p:sp>
      <p:sp>
        <p:nvSpPr>
          <p:cNvPr id="4" name="prop-card-0"/>
          <p:cNvSpPr/>
          <p:nvPr/>
        </p:nvSpPr>
        <p:spPr>
          <a:xfrm>
            <a:off x="548640" y="1874520"/>
            <a:ext cx="2567864" cy="1783080"/>
          </a:xfrm>
          <a:prstGeom prst="roundRect">
            <a:avLst>
              <a:gd name="adj" fmla="val 6154"/>
            </a:avLst>
          </a:prstGeom>
          <a:solidFill>
            <a:schemeClr val="bg2"/>
          </a:solidFill>
          <a:ln/>
        </p:spPr>
      </p:sp>
      <p:sp>
        <p:nvSpPr>
          <p:cNvPr id="5" name="prop-0-circle"/>
          <p:cNvSpPr/>
          <p:nvPr/>
        </p:nvSpPr>
        <p:spPr>
          <a:xfrm>
            <a:off x="777240" y="2057400"/>
            <a:ext cx="548640" cy="548640"/>
          </a:xfrm>
          <a:prstGeom prst="ellipse">
            <a:avLst/>
          </a:prstGeom>
          <a:solidFill>
            <a:schemeClr val="accent2"/>
          </a:solidFill>
          <a:ln/>
        </p:spPr>
      </p:sp>
      <p:pic>
        <p:nvPicPr>
          <p:cNvPr id="6" name="prop-0-icon" descr="LayerGroup icon">    </p:cNvPr>
          <p:cNvPicPr>
            <a:picLocks noChangeAspect="1"/>
          </p:cNvPicPr>
          <p:nvPr/>
        </p:nvPicPr>
        <p:blipFill>
          <a:blip r:embed="rId1"/>
          <a:stretch>
            <a:fillRect/>
          </a:stretch>
        </p:blipFill>
        <p:spPr>
          <a:xfrm>
            <a:off x="914400" y="2194560"/>
            <a:ext cx="274320" cy="274320"/>
          </a:xfrm>
          <a:prstGeom prst="rect">
            <a:avLst/>
          </a:prstGeom>
        </p:spPr>
      </p:pic>
      <p:sp>
        <p:nvSpPr>
          <p:cNvPr id="7" name="prop-head-0"/>
          <p:cNvSpPr txBox="1"/>
          <p:nvPr/>
        </p:nvSpPr>
        <p:spPr>
          <a:xfrm>
            <a:off x="1463040" y="2130552"/>
            <a:ext cx="1562024" cy="411480"/>
          </a:xfrm>
          <a:prstGeom prst="rect">
            <a:avLst/>
          </a:prstGeom>
          <a:noFill/>
          <a:ln/>
        </p:spPr>
        <p:txBody>
          <a:bodyPr wrap="square" lIns="0" tIns="0" rIns="0" bIns="0" rtlCol="0" anchor="t"/>
          <a:lstStyle/>
          <a:p>
            <a:pPr indent="0" marL="0">
              <a:buNone/>
            </a:pPr>
            <a:r>
              <a:rPr lang="en-US" sz="1800" b="1" dirty="0">
                <a:solidFill>
                  <a:schemeClr val="tx1"/>
                </a:solidFill>
              </a:rPr>
              <a:t>Distributed</a:t>
            </a:r>
            <a:endParaRPr lang="en-US" sz="1800" dirty="0"/>
          </a:p>
        </p:txBody>
      </p:sp>
      <p:sp>
        <p:nvSpPr>
          <p:cNvPr id="8" name="prop-text-0"/>
          <p:cNvSpPr txBox="1"/>
          <p:nvPr/>
        </p:nvSpPr>
        <p:spPr>
          <a:xfrm>
            <a:off x="777240" y="2743200"/>
            <a:ext cx="2156384" cy="868680"/>
          </a:xfrm>
          <a:prstGeom prst="rect">
            <a:avLst/>
          </a:prstGeom>
          <a:noFill/>
          <a:ln/>
        </p:spPr>
        <p:txBody>
          <a:bodyPr wrap="square" lIns="0" tIns="0" rIns="0" bIns="0" rtlCol="0" anchor="t"/>
          <a:lstStyle/>
          <a:p>
            <a:pPr indent="0" marL="0">
              <a:buNone/>
            </a:pPr>
            <a:r>
              <a:rPr lang="en-US" sz="1300" dirty="0">
                <a:solidFill>
                  <a:schemeClr val="accent4"/>
                </a:solidFill>
              </a:rPr>
              <a:t>Rows are split into partitions spread across cores or machines</a:t>
            </a:r>
            <a:endParaRPr lang="en-US" sz="1300" dirty="0"/>
          </a:p>
        </p:txBody>
      </p:sp>
      <p:sp>
        <p:nvSpPr>
          <p:cNvPr id="9" name="prop-card-1"/>
          <p:cNvSpPr/>
          <p:nvPr/>
        </p:nvSpPr>
        <p:spPr>
          <a:xfrm>
            <a:off x="3390824" y="1874520"/>
            <a:ext cx="2567864" cy="1783080"/>
          </a:xfrm>
          <a:prstGeom prst="roundRect">
            <a:avLst>
              <a:gd name="adj" fmla="val 6154"/>
            </a:avLst>
          </a:prstGeom>
          <a:solidFill>
            <a:schemeClr val="bg2"/>
          </a:solidFill>
          <a:ln/>
        </p:spPr>
      </p:sp>
      <p:sp>
        <p:nvSpPr>
          <p:cNvPr id="10" name="prop-1-circle"/>
          <p:cNvSpPr/>
          <p:nvPr/>
        </p:nvSpPr>
        <p:spPr>
          <a:xfrm>
            <a:off x="3619424" y="2057400"/>
            <a:ext cx="548640" cy="548640"/>
          </a:xfrm>
          <a:prstGeom prst="ellipse">
            <a:avLst/>
          </a:prstGeom>
          <a:solidFill>
            <a:schemeClr val="tx2"/>
          </a:solidFill>
          <a:ln/>
        </p:spPr>
      </p:sp>
      <p:pic>
        <p:nvPicPr>
          <p:cNvPr id="11" name="prop-1-icon" descr="Lock icon">    </p:cNvPr>
          <p:cNvPicPr>
            <a:picLocks noChangeAspect="1"/>
          </p:cNvPicPr>
          <p:nvPr/>
        </p:nvPicPr>
        <p:blipFill>
          <a:blip r:embed="rId2"/>
          <a:stretch>
            <a:fillRect/>
          </a:stretch>
        </p:blipFill>
        <p:spPr>
          <a:xfrm>
            <a:off x="3756584" y="2194560"/>
            <a:ext cx="274320" cy="274320"/>
          </a:xfrm>
          <a:prstGeom prst="rect">
            <a:avLst/>
          </a:prstGeom>
        </p:spPr>
      </p:pic>
      <p:sp>
        <p:nvSpPr>
          <p:cNvPr id="12" name="prop-head-1"/>
          <p:cNvSpPr txBox="1"/>
          <p:nvPr/>
        </p:nvSpPr>
        <p:spPr>
          <a:xfrm>
            <a:off x="4305224" y="2130552"/>
            <a:ext cx="1562024" cy="411480"/>
          </a:xfrm>
          <a:prstGeom prst="rect">
            <a:avLst/>
          </a:prstGeom>
          <a:noFill/>
          <a:ln/>
        </p:spPr>
        <p:txBody>
          <a:bodyPr wrap="square" lIns="0" tIns="0" rIns="0" bIns="0" rtlCol="0" anchor="t"/>
          <a:lstStyle/>
          <a:p>
            <a:pPr indent="0" marL="0">
              <a:buNone/>
            </a:pPr>
            <a:r>
              <a:rPr lang="en-US" sz="1800" b="1" dirty="0">
                <a:solidFill>
                  <a:schemeClr val="tx1"/>
                </a:solidFill>
              </a:rPr>
              <a:t>Immutable</a:t>
            </a:r>
            <a:endParaRPr lang="en-US" sz="1800" dirty="0"/>
          </a:p>
        </p:txBody>
      </p:sp>
      <p:sp>
        <p:nvSpPr>
          <p:cNvPr id="13" name="prop-text-1"/>
          <p:cNvSpPr txBox="1"/>
          <p:nvPr/>
        </p:nvSpPr>
        <p:spPr>
          <a:xfrm>
            <a:off x="3619424" y="2743200"/>
            <a:ext cx="2156384" cy="868680"/>
          </a:xfrm>
          <a:prstGeom prst="rect">
            <a:avLst/>
          </a:prstGeom>
          <a:noFill/>
          <a:ln/>
        </p:spPr>
        <p:txBody>
          <a:bodyPr wrap="square" lIns="0" tIns="0" rIns="0" bIns="0" rtlCol="0" anchor="t"/>
          <a:lstStyle/>
          <a:p>
            <a:pPr indent="0" marL="0">
              <a:buNone/>
            </a:pPr>
            <a:r>
              <a:rPr lang="en-US" sz="1300" dirty="0">
                <a:solidFill>
                  <a:schemeClr val="accent4"/>
                </a:solidFill>
              </a:rPr>
              <a:t>Every step returns a new DataFrame; the original never changes</a:t>
            </a:r>
            <a:endParaRPr lang="en-US" sz="1300" dirty="0"/>
          </a:p>
        </p:txBody>
      </p:sp>
      <p:sp>
        <p:nvSpPr>
          <p:cNvPr id="14" name="prop-card-2"/>
          <p:cNvSpPr/>
          <p:nvPr/>
        </p:nvSpPr>
        <p:spPr>
          <a:xfrm>
            <a:off x="6233008" y="1874520"/>
            <a:ext cx="2567864" cy="1783080"/>
          </a:xfrm>
          <a:prstGeom prst="roundRect">
            <a:avLst>
              <a:gd name="adj" fmla="val 6154"/>
            </a:avLst>
          </a:prstGeom>
          <a:solidFill>
            <a:schemeClr val="bg2"/>
          </a:solidFill>
          <a:ln/>
        </p:spPr>
      </p:sp>
      <p:sp>
        <p:nvSpPr>
          <p:cNvPr id="15" name="prop-2-circle"/>
          <p:cNvSpPr/>
          <p:nvPr/>
        </p:nvSpPr>
        <p:spPr>
          <a:xfrm>
            <a:off x="6461608" y="2057400"/>
            <a:ext cx="548640" cy="548640"/>
          </a:xfrm>
          <a:prstGeom prst="ellipse">
            <a:avLst/>
          </a:prstGeom>
          <a:solidFill>
            <a:schemeClr val="accent1"/>
          </a:solidFill>
          <a:ln/>
        </p:spPr>
      </p:sp>
      <p:pic>
        <p:nvPicPr>
          <p:cNvPr id="16" name="prop-2-icon" descr="HourglassHalf icon">    </p:cNvPr>
          <p:cNvPicPr>
            <a:picLocks noChangeAspect="1"/>
          </p:cNvPicPr>
          <p:nvPr/>
        </p:nvPicPr>
        <p:blipFill>
          <a:blip r:embed="rId3"/>
          <a:stretch>
            <a:fillRect/>
          </a:stretch>
        </p:blipFill>
        <p:spPr>
          <a:xfrm>
            <a:off x="6598768" y="2194560"/>
            <a:ext cx="274320" cy="274320"/>
          </a:xfrm>
          <a:prstGeom prst="rect">
            <a:avLst/>
          </a:prstGeom>
        </p:spPr>
      </p:pic>
      <p:sp>
        <p:nvSpPr>
          <p:cNvPr id="17" name="prop-head-2"/>
          <p:cNvSpPr txBox="1"/>
          <p:nvPr/>
        </p:nvSpPr>
        <p:spPr>
          <a:xfrm>
            <a:off x="7147408" y="2130552"/>
            <a:ext cx="1562024" cy="411480"/>
          </a:xfrm>
          <a:prstGeom prst="rect">
            <a:avLst/>
          </a:prstGeom>
          <a:noFill/>
          <a:ln/>
        </p:spPr>
        <p:txBody>
          <a:bodyPr wrap="square" lIns="0" tIns="0" rIns="0" bIns="0" rtlCol="0" anchor="t"/>
          <a:lstStyle/>
          <a:p>
            <a:pPr indent="0" marL="0">
              <a:buNone/>
            </a:pPr>
            <a:r>
              <a:rPr lang="en-US" sz="1800" b="1" dirty="0">
                <a:solidFill>
                  <a:schemeClr val="tx1"/>
                </a:solidFill>
              </a:rPr>
              <a:t>Lazy</a:t>
            </a:r>
            <a:endParaRPr lang="en-US" sz="1800" dirty="0"/>
          </a:p>
        </p:txBody>
      </p:sp>
      <p:sp>
        <p:nvSpPr>
          <p:cNvPr id="18" name="prop-text-2"/>
          <p:cNvSpPr txBox="1"/>
          <p:nvPr/>
        </p:nvSpPr>
        <p:spPr>
          <a:xfrm>
            <a:off x="6461608" y="2743200"/>
            <a:ext cx="2156384" cy="868680"/>
          </a:xfrm>
          <a:prstGeom prst="rect">
            <a:avLst/>
          </a:prstGeom>
          <a:noFill/>
          <a:ln/>
        </p:spPr>
        <p:txBody>
          <a:bodyPr wrap="square" lIns="0" tIns="0" rIns="0" bIns="0" rtlCol="0" anchor="t"/>
          <a:lstStyle/>
          <a:p>
            <a:pPr indent="0" marL="0">
              <a:buNone/>
            </a:pPr>
            <a:r>
              <a:rPr lang="en-US" sz="1300" dirty="0">
                <a:solidFill>
                  <a:schemeClr val="accent4"/>
                </a:solidFill>
              </a:rPr>
              <a:t>Only a recipe until an action asks for a result</a:t>
            </a:r>
            <a:endParaRPr lang="en-US" sz="1300" dirty="0"/>
          </a:p>
        </p:txBody>
      </p:sp>
      <p:sp>
        <p:nvSpPr>
          <p:cNvPr id="19" name="prop-card-3"/>
          <p:cNvSpPr/>
          <p:nvPr/>
        </p:nvSpPr>
        <p:spPr>
          <a:xfrm>
            <a:off x="9075191" y="1874520"/>
            <a:ext cx="2567864" cy="1783080"/>
          </a:xfrm>
          <a:prstGeom prst="roundRect">
            <a:avLst>
              <a:gd name="adj" fmla="val 6154"/>
            </a:avLst>
          </a:prstGeom>
          <a:solidFill>
            <a:schemeClr val="bg2"/>
          </a:solidFill>
          <a:ln/>
        </p:spPr>
      </p:sp>
      <p:sp>
        <p:nvSpPr>
          <p:cNvPr id="20" name="prop-3-circle"/>
          <p:cNvSpPr/>
          <p:nvPr/>
        </p:nvSpPr>
        <p:spPr>
          <a:xfrm>
            <a:off x="9303791" y="2057400"/>
            <a:ext cx="548640" cy="548640"/>
          </a:xfrm>
          <a:prstGeom prst="ellipse">
            <a:avLst/>
          </a:prstGeom>
          <a:solidFill>
            <a:schemeClr val="accent3"/>
          </a:solidFill>
          <a:ln/>
        </p:spPr>
      </p:sp>
      <p:pic>
        <p:nvPicPr>
          <p:cNvPr id="21" name="prop-3-icon" descr="Brain icon">    </p:cNvPr>
          <p:cNvPicPr>
            <a:picLocks noChangeAspect="1"/>
          </p:cNvPicPr>
          <p:nvPr/>
        </p:nvPicPr>
        <p:blipFill>
          <a:blip r:embed="rId4"/>
          <a:stretch>
            <a:fillRect/>
          </a:stretch>
        </p:blipFill>
        <p:spPr>
          <a:xfrm>
            <a:off x="9440951" y="2194560"/>
            <a:ext cx="274320" cy="274320"/>
          </a:xfrm>
          <a:prstGeom prst="rect">
            <a:avLst/>
          </a:prstGeom>
        </p:spPr>
      </p:pic>
      <p:sp>
        <p:nvSpPr>
          <p:cNvPr id="22" name="prop-head-3"/>
          <p:cNvSpPr txBox="1"/>
          <p:nvPr/>
        </p:nvSpPr>
        <p:spPr>
          <a:xfrm>
            <a:off x="9989591" y="2130552"/>
            <a:ext cx="1562024" cy="411480"/>
          </a:xfrm>
          <a:prstGeom prst="rect">
            <a:avLst/>
          </a:prstGeom>
          <a:noFill/>
          <a:ln/>
        </p:spPr>
        <p:txBody>
          <a:bodyPr wrap="square" lIns="0" tIns="0" rIns="0" bIns="0" rtlCol="0" anchor="t"/>
          <a:lstStyle/>
          <a:p>
            <a:pPr indent="0" marL="0">
              <a:buNone/>
            </a:pPr>
            <a:r>
              <a:rPr lang="en-US" sz="1800" b="1" dirty="0">
                <a:solidFill>
                  <a:schemeClr val="tx1"/>
                </a:solidFill>
              </a:rPr>
              <a:t>Optimized</a:t>
            </a:r>
            <a:endParaRPr lang="en-US" sz="1800" dirty="0"/>
          </a:p>
        </p:txBody>
      </p:sp>
      <p:sp>
        <p:nvSpPr>
          <p:cNvPr id="23" name="prop-text-3"/>
          <p:cNvSpPr txBox="1"/>
          <p:nvPr/>
        </p:nvSpPr>
        <p:spPr>
          <a:xfrm>
            <a:off x="9303791" y="2743200"/>
            <a:ext cx="2156384" cy="868680"/>
          </a:xfrm>
          <a:prstGeom prst="rect">
            <a:avLst/>
          </a:prstGeom>
          <a:noFill/>
          <a:ln/>
        </p:spPr>
        <p:txBody>
          <a:bodyPr wrap="square" lIns="0" tIns="0" rIns="0" bIns="0" rtlCol="0" anchor="t"/>
          <a:lstStyle/>
          <a:p>
            <a:pPr indent="0" marL="0">
              <a:buNone/>
            </a:pPr>
            <a:r>
              <a:rPr lang="en-US" sz="1300" dirty="0">
                <a:solidFill>
                  <a:schemeClr val="accent4"/>
                </a:solidFill>
              </a:rPr>
              <a:t>Spark knows the columns and types, so it optimizes the plan first</a:t>
            </a:r>
            <a:endParaRPr lang="en-US" sz="1300" dirty="0"/>
          </a:p>
        </p:txBody>
      </p:sp>
      <p:graphicFrame>
        <p:nvGraphicFramePr>
          <p:cNvPr id="5" name="pandas-vs-spark"/>
          <p:cNvGraphicFramePr>
            <a:graphicFrameLocks noGrp="1"/>
          </p:cNvGraphicFramePr>
          <p:nvPr>
            <p:extLst>
              <p:ext uri="{D42A27DB-BD31-4B8C-83A1-F6EECF244321}">
                <p14:modId xmlns:p14="http://schemas.microsoft.com/office/powerpoint/2010/main" val="1579011935"/>
              </p:ext>
            </p:extLst>
          </p:nvPr>
        </p:nvGraphicFramePr>
        <p:xfrm>
          <a:off x="548640" y="3886200"/>
          <a:ext cx="11094415" cy="914400"/>
        </p:xfrm>
        <a:graphic>
          <a:graphicData uri="http://schemas.openxmlformats.org/drawingml/2006/table">
            <a:tbl>
              <a:tblPr/>
              <a:tblGrid>
                <a:gridCol w="2377440"/>
                <a:gridCol w="4114800"/>
                <a:gridCol w="4602175"/>
              </a:tblGrid>
              <a:tr h="384048">
                <a:tc>
                  <a:txBody>
                    <a:bodyPr/>
                    <a:lstStyle/>
                    <a:p>
                      <a:pPr indent="0" marL="0">
                        <a:buNone/>
                      </a:pP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Pandas DataFrame</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Spark DataFrame</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r>
              <a:tr h="384048">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Where the data lives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All in one machine's memory</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Split into partitions across cores or machines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384048">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When it runs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Immediately (eager)</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Only when an action is called (lazy)</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384048">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Parallelism</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Mostly one CPU core</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All cores, or a whole cluster</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384048">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In our project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Showing small results, drawing charts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All the heavy processing</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How Spark runs your code</a:t>
            </a:r>
            <a:endParaRPr lang="en-US" sz="3600" dirty="0"/>
          </a:p>
        </p:txBody>
      </p:sp>
      <p:sp>
        <p:nvSpPr>
          <p:cNvPr id="3" name="chain-0"/>
          <p:cNvSpPr/>
          <p:nvPr/>
        </p:nvSpPr>
        <p:spPr>
          <a:xfrm>
            <a:off x="548640" y="1325880"/>
            <a:ext cx="2670734" cy="960120"/>
          </a:xfrm>
          <a:prstGeom prst="homePlate">
            <a:avLst/>
          </a:prstGeom>
          <a:solidFill>
            <a:schemeClr val="accent2"/>
          </a:solidFill>
          <a:ln/>
        </p:spPr>
      </p:sp>
      <p:sp>
        <p:nvSpPr>
          <p:cNvPr id="4" name="chain-text-0"/>
          <p:cNvSpPr txBox="1"/>
          <p:nvPr/>
        </p:nvSpPr>
        <p:spPr>
          <a:xfrm>
            <a:off x="777240" y="1371600"/>
            <a:ext cx="2030654" cy="868680"/>
          </a:xfrm>
          <a:prstGeom prst="rect">
            <a:avLst/>
          </a:prstGeom>
          <a:noFill/>
          <a:ln/>
        </p:spPr>
        <p:txBody>
          <a:bodyPr wrap="square" lIns="0" tIns="0" rIns="0" bIns="0" rtlCol="0" anchor="ctr"/>
          <a:lstStyle/>
          <a:p>
            <a:pPr indent="0" marL="0">
              <a:buNone/>
            </a:pPr>
            <a:r>
              <a:rPr lang="en-US" sz="1700" b="1" dirty="0">
                <a:solidFill>
                  <a:schemeClr val="bg1"/>
                </a:solidFill>
              </a:rPr>
              <a:t>Partition</a:t>
            </a:r>
            <a:endParaRPr lang="en-US" sz="1400" dirty="0"/>
          </a:p>
          <a:p>
            <a:pPr indent="0" marL="0">
              <a:buNone/>
            </a:pPr>
            <a:r>
              <a:rPr lang="en-US" sz="1200" dirty="0">
                <a:solidFill>
                  <a:schemeClr val="bg1"/>
                </a:solidFill>
              </a:rPr>
              <a:t>one piece of the table</a:t>
            </a:r>
            <a:endParaRPr lang="en-US" sz="1400" dirty="0"/>
          </a:p>
        </p:txBody>
      </p:sp>
      <p:sp>
        <p:nvSpPr>
          <p:cNvPr id="5" name="chain-1"/>
          <p:cNvSpPr/>
          <p:nvPr/>
        </p:nvSpPr>
        <p:spPr>
          <a:xfrm>
            <a:off x="3356534" y="1325880"/>
            <a:ext cx="2670734" cy="960120"/>
          </a:xfrm>
          <a:prstGeom prst="chevron">
            <a:avLst/>
          </a:prstGeom>
          <a:solidFill>
            <a:schemeClr val="tx2"/>
          </a:solidFill>
          <a:ln/>
        </p:spPr>
      </p:sp>
      <p:sp>
        <p:nvSpPr>
          <p:cNvPr id="6" name="chain-text-1"/>
          <p:cNvSpPr txBox="1"/>
          <p:nvPr/>
        </p:nvSpPr>
        <p:spPr>
          <a:xfrm>
            <a:off x="3923462" y="1371600"/>
            <a:ext cx="1710614" cy="868680"/>
          </a:xfrm>
          <a:prstGeom prst="rect">
            <a:avLst/>
          </a:prstGeom>
          <a:noFill/>
          <a:ln/>
        </p:spPr>
        <p:txBody>
          <a:bodyPr wrap="square" lIns="0" tIns="0" rIns="0" bIns="0" rtlCol="0" anchor="ctr"/>
          <a:lstStyle/>
          <a:p>
            <a:pPr indent="0" marL="0">
              <a:buNone/>
            </a:pPr>
            <a:r>
              <a:rPr lang="en-US" sz="1700" b="1" dirty="0">
                <a:solidFill>
                  <a:schemeClr val="bg1"/>
                </a:solidFill>
              </a:rPr>
              <a:t>Task</a:t>
            </a:r>
            <a:endParaRPr lang="en-US" sz="1400" dirty="0"/>
          </a:p>
          <a:p>
            <a:pPr indent="0" marL="0">
              <a:buNone/>
            </a:pPr>
            <a:r>
              <a:rPr lang="en-US" sz="1200" dirty="0">
                <a:solidFill>
                  <a:schemeClr val="bg1"/>
                </a:solidFill>
              </a:rPr>
              <a:t>work on one partition, on one core</a:t>
            </a:r>
            <a:endParaRPr lang="en-US" sz="1400" dirty="0"/>
          </a:p>
        </p:txBody>
      </p:sp>
      <p:sp>
        <p:nvSpPr>
          <p:cNvPr id="7" name="chain-2"/>
          <p:cNvSpPr/>
          <p:nvPr/>
        </p:nvSpPr>
        <p:spPr>
          <a:xfrm>
            <a:off x="6164428" y="1325880"/>
            <a:ext cx="2670734" cy="960120"/>
          </a:xfrm>
          <a:prstGeom prst="chevron">
            <a:avLst/>
          </a:prstGeom>
          <a:solidFill>
            <a:schemeClr val="accent4"/>
          </a:solidFill>
          <a:ln/>
        </p:spPr>
      </p:sp>
      <p:sp>
        <p:nvSpPr>
          <p:cNvPr id="8" name="chain-text-2"/>
          <p:cNvSpPr txBox="1"/>
          <p:nvPr/>
        </p:nvSpPr>
        <p:spPr>
          <a:xfrm>
            <a:off x="6731356" y="1371600"/>
            <a:ext cx="1710614" cy="868680"/>
          </a:xfrm>
          <a:prstGeom prst="rect">
            <a:avLst/>
          </a:prstGeom>
          <a:noFill/>
          <a:ln/>
        </p:spPr>
        <p:txBody>
          <a:bodyPr wrap="square" lIns="0" tIns="0" rIns="0" bIns="0" rtlCol="0" anchor="ctr"/>
          <a:lstStyle/>
          <a:p>
            <a:pPr indent="0" marL="0">
              <a:buNone/>
            </a:pPr>
            <a:r>
              <a:rPr lang="en-US" sz="1700" b="1" dirty="0">
                <a:solidFill>
                  <a:schemeClr val="bg1"/>
                </a:solidFill>
              </a:rPr>
              <a:t>Stage</a:t>
            </a:r>
            <a:endParaRPr lang="en-US" sz="1400" dirty="0"/>
          </a:p>
          <a:p>
            <a:pPr indent="0" marL="0">
              <a:buNone/>
            </a:pPr>
            <a:r>
              <a:rPr lang="en-US" sz="1200" dirty="0">
                <a:solidFill>
                  <a:schemeClr val="bg1"/>
                </a:solidFill>
              </a:rPr>
              <a:t>tasks that need no data movement</a:t>
            </a:r>
            <a:endParaRPr lang="en-US" sz="1400" dirty="0"/>
          </a:p>
        </p:txBody>
      </p:sp>
      <p:sp>
        <p:nvSpPr>
          <p:cNvPr id="9" name="chain-3"/>
          <p:cNvSpPr/>
          <p:nvPr/>
        </p:nvSpPr>
        <p:spPr>
          <a:xfrm>
            <a:off x="8972321" y="1325880"/>
            <a:ext cx="2670734" cy="960120"/>
          </a:xfrm>
          <a:prstGeom prst="chevron">
            <a:avLst/>
          </a:prstGeom>
          <a:solidFill>
            <a:schemeClr val="tx1"/>
          </a:solidFill>
          <a:ln/>
        </p:spPr>
      </p:sp>
      <p:sp>
        <p:nvSpPr>
          <p:cNvPr id="10" name="chain-text-3"/>
          <p:cNvSpPr txBox="1"/>
          <p:nvPr/>
        </p:nvSpPr>
        <p:spPr>
          <a:xfrm>
            <a:off x="9539249" y="1371600"/>
            <a:ext cx="1710614" cy="868680"/>
          </a:xfrm>
          <a:prstGeom prst="rect">
            <a:avLst/>
          </a:prstGeom>
          <a:noFill/>
          <a:ln/>
        </p:spPr>
        <p:txBody>
          <a:bodyPr wrap="square" lIns="0" tIns="0" rIns="0" bIns="0" rtlCol="0" anchor="ctr"/>
          <a:lstStyle/>
          <a:p>
            <a:pPr indent="0" marL="0">
              <a:buNone/>
            </a:pPr>
            <a:r>
              <a:rPr lang="en-US" sz="1700" b="1" dirty="0">
                <a:solidFill>
                  <a:schemeClr val="bg1"/>
                </a:solidFill>
              </a:rPr>
              <a:t>Job</a:t>
            </a:r>
            <a:endParaRPr lang="en-US" sz="1400" dirty="0"/>
          </a:p>
          <a:p>
            <a:pPr indent="0" marL="0">
              <a:buNone/>
            </a:pPr>
            <a:r>
              <a:rPr lang="en-US" sz="1200" dirty="0">
                <a:solidFill>
                  <a:schemeClr val="bg1"/>
                </a:solidFill>
              </a:rPr>
              <a:t>all stages for one action</a:t>
            </a:r>
            <a:endParaRPr lang="en-US" sz="1400" dirty="0"/>
          </a:p>
        </p:txBody>
      </p:sp>
      <p:sp>
        <p:nvSpPr>
          <p:cNvPr id="11" name="ta-card"/>
          <p:cNvSpPr/>
          <p:nvPr/>
        </p:nvSpPr>
        <p:spPr>
          <a:xfrm>
            <a:off x="548640" y="2560320"/>
            <a:ext cx="5440680" cy="3017520"/>
          </a:xfrm>
          <a:prstGeom prst="roundRect">
            <a:avLst>
              <a:gd name="adj" fmla="val 3636"/>
            </a:avLst>
          </a:prstGeom>
          <a:solidFill>
            <a:schemeClr val="bg2"/>
          </a:solidFill>
          <a:ln/>
        </p:spPr>
      </p:sp>
      <p:sp>
        <p:nvSpPr>
          <p:cNvPr id="12" name="ta-head"/>
          <p:cNvSpPr txBox="1"/>
          <p:nvPr/>
        </p:nvSpPr>
        <p:spPr>
          <a:xfrm>
            <a:off x="822960" y="2724912"/>
            <a:ext cx="4937760" cy="411480"/>
          </a:xfrm>
          <a:prstGeom prst="rect">
            <a:avLst/>
          </a:prstGeom>
          <a:noFill/>
          <a:ln/>
        </p:spPr>
        <p:txBody>
          <a:bodyPr wrap="square" lIns="0" tIns="0" rIns="0" bIns="0" rtlCol="0" anchor="t"/>
          <a:lstStyle/>
          <a:p>
            <a:pPr indent="0" marL="0">
              <a:buNone/>
            </a:pPr>
            <a:r>
              <a:rPr lang="en-US" sz="1800" b="1" dirty="0">
                <a:solidFill>
                  <a:schemeClr val="tx1"/>
                </a:solidFill>
              </a:rPr>
              <a:t>Transformations vs actions</a:t>
            </a:r>
            <a:endParaRPr lang="en-US" sz="1800" dirty="0"/>
          </a:p>
        </p:txBody>
      </p:sp>
      <p:sp>
        <p:nvSpPr>
          <p:cNvPr id="13" name="ta-trans"/>
          <p:cNvSpPr txBox="1"/>
          <p:nvPr/>
        </p:nvSpPr>
        <p:spPr>
          <a:xfrm>
            <a:off x="822960" y="3200400"/>
            <a:ext cx="2468880" cy="1463040"/>
          </a:xfrm>
          <a:prstGeom prst="rect">
            <a:avLst/>
          </a:prstGeom>
          <a:noFill/>
          <a:ln/>
        </p:spPr>
        <p:txBody>
          <a:bodyPr wrap="square" lIns="0" tIns="0" rIns="0" bIns="0" rtlCol="0" anchor="t"/>
          <a:lstStyle/>
          <a:p>
            <a:pPr indent="0" marL="0">
              <a:buNone/>
            </a:pPr>
            <a:r>
              <a:rPr lang="en-US" sz="1400" b="1" dirty="0">
                <a:solidFill>
                  <a:schemeClr val="accent2"/>
                </a:solidFill>
              </a:rPr>
              <a:t>Transformation</a:t>
            </a:r>
            <a:endParaRPr lang="en-US" sz="1400" dirty="0"/>
          </a:p>
          <a:p>
            <a:pPr indent="0" marL="0">
              <a:buNone/>
            </a:pPr>
            <a:r>
              <a:rPr lang="en-US" sz="1400" dirty="0">
                <a:solidFill>
                  <a:schemeClr val="tx1"/>
                </a:solidFill>
              </a:rPr>
              <a:t>plans a new DataFrame, nothing runs yet</a:t>
            </a:r>
            <a:endParaRPr lang="en-US" sz="1400" dirty="0"/>
          </a:p>
          <a:p>
            <a:pPr indent="0" marL="0">
              <a:buNone/>
            </a:pPr>
            <a:r>
              <a:rPr lang="en-US" sz="1200" dirty="0">
                <a:solidFill>
                  <a:schemeClr val="accent4"/>
                </a:solidFill>
                <a:latin typeface="Courier New" pitchFamily="34" charset="0"/>
                <a:ea typeface="Courier New" pitchFamily="34" charset="-122"/>
                <a:cs typeface="Courier New" pitchFamily="34" charset="-120"/>
              </a:rPr>
              <a:t>select, filter, withColumn, join, groupBy</a:t>
            </a:r>
            <a:endParaRPr lang="en-US" sz="1400" dirty="0"/>
          </a:p>
        </p:txBody>
      </p:sp>
      <p:sp>
        <p:nvSpPr>
          <p:cNvPr id="14" name="ta-action"/>
          <p:cNvSpPr txBox="1"/>
          <p:nvPr/>
        </p:nvSpPr>
        <p:spPr>
          <a:xfrm>
            <a:off x="3429000" y="3200400"/>
            <a:ext cx="2377440" cy="1463040"/>
          </a:xfrm>
          <a:prstGeom prst="rect">
            <a:avLst/>
          </a:prstGeom>
          <a:noFill/>
          <a:ln/>
        </p:spPr>
        <p:txBody>
          <a:bodyPr wrap="square" lIns="0" tIns="0" rIns="0" bIns="0" rtlCol="0" anchor="t"/>
          <a:lstStyle/>
          <a:p>
            <a:pPr indent="0" marL="0">
              <a:buNone/>
            </a:pPr>
            <a:r>
              <a:rPr lang="en-US" sz="1400" b="1" dirty="0">
                <a:solidFill>
                  <a:schemeClr val="accent3"/>
                </a:solidFill>
              </a:rPr>
              <a:t>Action</a:t>
            </a:r>
            <a:endParaRPr lang="en-US" sz="1400" dirty="0"/>
          </a:p>
          <a:p>
            <a:pPr indent="0" marL="0">
              <a:buNone/>
            </a:pPr>
            <a:r>
              <a:rPr lang="en-US" sz="1400" dirty="0">
                <a:solidFill>
                  <a:schemeClr val="tx1"/>
                </a:solidFill>
              </a:rPr>
              <a:t>runs the whole plan and returns a result</a:t>
            </a:r>
            <a:endParaRPr lang="en-US" sz="1400" dirty="0"/>
          </a:p>
          <a:p>
            <a:pPr indent="0" marL="0">
              <a:buNone/>
            </a:pPr>
            <a:r>
              <a:rPr lang="en-US" sz="1200" dirty="0">
                <a:solidFill>
                  <a:schemeClr val="accent4"/>
                </a:solidFill>
                <a:latin typeface="Courier New" pitchFamily="34" charset="0"/>
                <a:ea typeface="Courier New" pitchFamily="34" charset="-122"/>
                <a:cs typeface="Courier New" pitchFamily="34" charset="-120"/>
              </a:rPr>
              <a:t>count, show, collect, toPandas, write</a:t>
            </a:r>
            <a:endParaRPr lang="en-US" sz="1400" dirty="0"/>
          </a:p>
        </p:txBody>
      </p:sp>
      <p:sp>
        <p:nvSpPr>
          <p:cNvPr id="15" name="lazy-proof"/>
          <p:cNvSpPr txBox="1"/>
          <p:nvPr/>
        </p:nvSpPr>
        <p:spPr>
          <a:xfrm>
            <a:off x="822960" y="4617720"/>
            <a:ext cx="4937760" cy="822960"/>
          </a:xfrm>
          <a:prstGeom prst="rect">
            <a:avLst/>
          </a:prstGeom>
          <a:noFill/>
          <a:ln/>
        </p:spPr>
        <p:txBody>
          <a:bodyPr wrap="square" lIns="0" tIns="0" rIns="0" bIns="0" rtlCol="0" anchor="t"/>
          <a:lstStyle/>
          <a:p>
            <a:pPr indent="0" marL="0">
              <a:buNone/>
            </a:pPr>
            <a:r>
              <a:rPr lang="en-US" sz="1400" b="1" dirty="0">
                <a:solidFill>
                  <a:schemeClr val="tx1"/>
                </a:solidFill>
              </a:rPr>
              <a:t>Lazy evaluation, measured: </a:t>
            </a:r>
            <a:pPr indent="0" marL="0">
              <a:buNone/>
            </a:pPr>
            <a:r>
              <a:rPr lang="en-US" sz="1400" dirty="0">
                <a:solidFill>
                  <a:schemeClr val="tx1"/>
                </a:solidFill>
              </a:rPr>
              <a:t>defining our cleaning pipeline took 0.2 s; the count() action, which actually ran it, took 1.2 s.</a:t>
            </a:r>
            <a:endParaRPr lang="en-US" sz="1400" dirty="0"/>
          </a:p>
        </p:txBody>
      </p:sp>
      <p:sp>
        <p:nvSpPr>
          <p:cNvPr id="16" name="nw-card"/>
          <p:cNvSpPr/>
          <p:nvPr/>
        </p:nvSpPr>
        <p:spPr>
          <a:xfrm>
            <a:off x="6263640" y="2560320"/>
            <a:ext cx="5379415" cy="3017520"/>
          </a:xfrm>
          <a:prstGeom prst="roundRect">
            <a:avLst>
              <a:gd name="adj" fmla="val 3636"/>
            </a:avLst>
          </a:prstGeom>
          <a:solidFill>
            <a:schemeClr val="bg2"/>
          </a:solidFill>
          <a:ln/>
        </p:spPr>
      </p:sp>
      <p:sp>
        <p:nvSpPr>
          <p:cNvPr id="17" name="nw-head"/>
          <p:cNvSpPr txBox="1"/>
          <p:nvPr/>
        </p:nvSpPr>
        <p:spPr>
          <a:xfrm>
            <a:off x="6537960" y="2724912"/>
            <a:ext cx="4830775" cy="411480"/>
          </a:xfrm>
          <a:prstGeom prst="rect">
            <a:avLst/>
          </a:prstGeom>
          <a:noFill/>
          <a:ln/>
        </p:spPr>
        <p:txBody>
          <a:bodyPr wrap="square" lIns="0" tIns="0" rIns="0" bIns="0" rtlCol="0" anchor="t"/>
          <a:lstStyle/>
          <a:p>
            <a:pPr indent="0" marL="0">
              <a:buNone/>
            </a:pPr>
            <a:r>
              <a:rPr lang="en-US" sz="1800" b="1" dirty="0">
                <a:solidFill>
                  <a:schemeClr val="tx1"/>
                </a:solidFill>
              </a:rPr>
              <a:t>Narrow vs wide, and the shuffle</a:t>
            </a:r>
            <a:endParaRPr lang="en-US" sz="1800" dirty="0"/>
          </a:p>
        </p:txBody>
      </p:sp>
      <p:sp>
        <p:nvSpPr>
          <p:cNvPr id="18" name="nw-text"/>
          <p:cNvSpPr txBox="1"/>
          <p:nvPr/>
        </p:nvSpPr>
        <p:spPr>
          <a:xfrm>
            <a:off x="6537960" y="3200400"/>
            <a:ext cx="4830775" cy="16002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Narrow: </a:t>
            </a:r>
            <a:pPr indent="0" marL="0">
              <a:spcAft>
                <a:spcPts val="600"/>
              </a:spcAft>
              <a:buNone/>
            </a:pPr>
            <a:r>
              <a:rPr lang="en-US" sz="1400" dirty="0">
                <a:solidFill>
                  <a:schemeClr val="tx1"/>
                </a:solidFill>
              </a:rPr>
              <a:t>each partition handled alone (filter, select)</a:t>
            </a:r>
            <a:endParaRPr lang="en-US" sz="1400" dirty="0"/>
          </a:p>
          <a:p>
            <a:pPr indent="0" marL="0">
              <a:spcAft>
                <a:spcPts val="600"/>
              </a:spcAft>
              <a:buNone/>
            </a:pPr>
            <a:r>
              <a:rPr lang="en-US" sz="1400" b="1" dirty="0">
                <a:solidFill>
                  <a:schemeClr val="tx1"/>
                </a:solidFill>
              </a:rPr>
              <a:t>Wide: </a:t>
            </a:r>
            <a:pPr indent="0" marL="0">
              <a:spcAft>
                <a:spcPts val="600"/>
              </a:spcAft>
              <a:buNone/>
            </a:pPr>
            <a:r>
              <a:rPr lang="en-US" sz="1400" dirty="0">
                <a:solidFill>
                  <a:schemeClr val="tx1"/>
                </a:solidFill>
              </a:rPr>
              <a:t>rows must move between partitions (groupBy, join, sort)</a:t>
            </a:r>
            <a:endParaRPr lang="en-US" sz="1400" dirty="0"/>
          </a:p>
          <a:p>
            <a:pPr indent="0" marL="0">
              <a:spcAft>
                <a:spcPts val="600"/>
              </a:spcAft>
              <a:buNone/>
            </a:pPr>
            <a:r>
              <a:rPr lang="en-US" sz="1400" b="1" dirty="0">
                <a:solidFill>
                  <a:schemeClr val="tx1"/>
                </a:solidFill>
              </a:rPr>
              <a:t>Shuffle: </a:t>
            </a:r>
            <a:pPr indent="0" marL="0">
              <a:spcAft>
                <a:spcPts val="600"/>
              </a:spcAft>
              <a:buNone/>
            </a:pPr>
            <a:r>
              <a:rPr lang="en-US" sz="1400" dirty="0">
                <a:solidFill>
                  <a:schemeClr val="tx1"/>
                </a:solidFill>
              </a:rPr>
              <a:t>that data movement. It starts a new stage and is usually the slowest part of a job.</a:t>
            </a:r>
            <a:endParaRPr lang="en-US" sz="1400" dirty="0"/>
          </a:p>
        </p:txBody>
      </p:sp>
      <p:sp>
        <p:nvSpPr>
          <p:cNvPr id="19" name="partition-proof"/>
          <p:cNvSpPr txBox="1"/>
          <p:nvPr/>
        </p:nvSpPr>
        <p:spPr>
          <a:xfrm>
            <a:off x="6537960" y="4617720"/>
            <a:ext cx="4830775" cy="822960"/>
          </a:xfrm>
          <a:prstGeom prst="rect">
            <a:avLst/>
          </a:prstGeom>
          <a:noFill/>
          <a:ln/>
        </p:spPr>
        <p:txBody>
          <a:bodyPr wrap="square" lIns="0" tIns="0" rIns="0" bIns="0" rtlCol="0" anchor="t"/>
          <a:lstStyle/>
          <a:p>
            <a:pPr indent="0" marL="0">
              <a:buNone/>
            </a:pPr>
            <a:r>
              <a:rPr lang="en-US" sz="1400" b="1" dirty="0">
                <a:solidFill>
                  <a:schemeClr val="tx1"/>
                </a:solidFill>
              </a:rPr>
              <a:t>In our data: </a:t>
            </a:r>
            <a:pPr indent="0" marL="0">
              <a:buNone/>
            </a:pPr>
            <a:r>
              <a:rPr lang="en-US" sz="1400" dirty="0">
                <a:solidFill>
                  <a:schemeClr val="tx1"/>
                </a:solidFill>
              </a:rPr>
              <a:t>3M taxi rows load as 4 partitions on 4 cores; repartition(8) spreads them evenly, 370,578 rows each.</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Six real NYC data sources</a:t>
            </a:r>
            <a:endParaRPr lang="en-US" sz="3600" dirty="0"/>
          </a:p>
        </p:txBody>
      </p:sp>
      <p:graphicFrame>
        <p:nvGraphicFramePr>
          <p:cNvPr id="7" name="data-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gridCol w="3154680"/>
                <a:gridCol w="1463040"/>
                <a:gridCol w="1417320"/>
                <a:gridCol w="3322015"/>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we get it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6213E"/>
                    </a:solidFill>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Mobility</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Yellow taxi trips, Jan 2024</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Parquet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~3M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File download (NYC Taxi &amp; Limousine Commission)</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Mobility</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Taxi zone names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CSV</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265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File download; joined to trips by zone number</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Citizen services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311 complaints, Jan 2024</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CSV via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~250k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NYC Open Data API, in pages of 100,000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Hourly air quality (PM2.5, NO₂, CO)</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JSON via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744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Open-Meteo Air Quality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Hourly weather (temperature, rain)</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JSON via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744 rows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Open-Meteo Weather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r h="457200">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Live traffic</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Road speeds from city sensors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Live JSON API</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latest readings</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indent="0" marL="0">
                        <a:buNone/>
                      </a:pPr>
                      <a:r>
                        <a:rPr lang="en-US" sz="1300" dirty="0">
                          <a:solidFill>
                            <a:srgbClr val="16213E"/>
                          </a:solidFill>
                          <a:latin typeface="Calibri" pitchFamily="34" charset="0"/>
                          <a:ea typeface="Calibri" pitchFamily="34" charset="-122"/>
                          <a:cs typeface="Calibri" pitchFamily="34" charset="-120"/>
                        </a:rPr>
                        <a:t>NYC DOT real-time API, fetched fresh every run</a:t>
                      </a:r>
                      <a:endParaRPr lang="en-US" sz="1300" dirty="0">
                        <a:latin typeface="Calibri" charset="0"/>
                        <a:ea typeface="Calibri" charset="0"/>
                        <a:cs typeface="Calibri" charset="0"/>
                      </a:endParaRPr>
                    </a:p>
                  </a:txBody>
                  <a:tcPr marL="109728" marR="109728" marT="0" marB="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r>
            </a:tbl>
          </a:graphicData>
        </a:graphic>
      </p:graphicFrame>
      <p:sp>
        <p:nvSpPr>
          <p:cNvPr id="4" name="fact-card-0"/>
          <p:cNvSpPr/>
          <p:nvPr/>
        </p:nvSpPr>
        <p:spPr>
          <a:xfrm>
            <a:off x="548640" y="4846320"/>
            <a:ext cx="3515258" cy="1280160"/>
          </a:xfrm>
          <a:prstGeom prst="roundRect">
            <a:avLst>
              <a:gd name="adj" fmla="val 8571"/>
            </a:avLst>
          </a:prstGeom>
          <a:solidFill>
            <a:schemeClr val="bg2"/>
          </a:solidFill>
          <a:ln/>
        </p:spPr>
      </p:sp>
      <p:sp>
        <p:nvSpPr>
          <p:cNvPr id="5" name="fact-0-circle"/>
          <p:cNvSpPr/>
          <p:nvPr/>
        </p:nvSpPr>
        <p:spPr>
          <a:xfrm>
            <a:off x="777240" y="5074920"/>
            <a:ext cx="640080" cy="640080"/>
          </a:xfrm>
          <a:prstGeom prst="ellipse">
            <a:avLst/>
          </a:prstGeom>
          <a:solidFill>
            <a:schemeClr val="accent2"/>
          </a:solidFill>
          <a:ln/>
        </p:spPr>
      </p:sp>
      <p:pic>
        <p:nvPicPr>
          <p:cNvPr id="6" name="fact-0-icon" descr="CalendarAlt icon">    </p:cNvPr>
          <p:cNvPicPr>
            <a:picLocks noChangeAspect="1"/>
          </p:cNvPicPr>
          <p:nvPr/>
        </p:nvPicPr>
        <p:blipFill>
          <a:blip r:embed="rId1"/>
          <a:stretch>
            <a:fillRect/>
          </a:stretch>
        </p:blipFill>
        <p:spPr>
          <a:xfrm>
            <a:off x="937260" y="5234940"/>
            <a:ext cx="320040" cy="320040"/>
          </a:xfrm>
          <a:prstGeom prst="rect">
            <a:avLst/>
          </a:prstGeom>
        </p:spPr>
      </p:pic>
      <p:sp>
        <p:nvSpPr>
          <p:cNvPr id="7" name="fact-text-0"/>
          <p:cNvSpPr txBox="1"/>
          <p:nvPr/>
        </p:nvSpPr>
        <p:spPr>
          <a:xfrm>
            <a:off x="1600200" y="5010912"/>
            <a:ext cx="2280818" cy="1005840"/>
          </a:xfrm>
          <a:prstGeom prst="rect">
            <a:avLst/>
          </a:prstGeom>
          <a:noFill/>
          <a:ln/>
        </p:spPr>
        <p:txBody>
          <a:bodyPr wrap="square" lIns="0" tIns="0" rIns="0" bIns="0" rtlCol="0" anchor="ctr"/>
          <a:lstStyle/>
          <a:p>
            <a:pPr indent="0" marL="0">
              <a:buNone/>
            </a:pPr>
            <a:r>
              <a:rPr lang="en-US" sz="1500" b="1" dirty="0">
                <a:solidFill>
                  <a:schemeClr val="tx1"/>
                </a:solidFill>
              </a:rPr>
              <a:t>Same month everywhere</a:t>
            </a:r>
            <a:endParaRPr lang="en-US" sz="1500" dirty="0"/>
          </a:p>
          <a:p>
            <a:pPr indent="0" marL="0">
              <a:buNone/>
            </a:pPr>
            <a:r>
              <a:rPr lang="en-US" sz="1300" dirty="0">
                <a:solidFill>
                  <a:schemeClr val="accent4"/>
                </a:solidFill>
              </a:rPr>
              <a:t>Jan 2024 lets us join sources by hour and by day</a:t>
            </a:r>
            <a:endParaRPr lang="en-US" sz="1500" dirty="0"/>
          </a:p>
        </p:txBody>
      </p:sp>
      <p:sp>
        <p:nvSpPr>
          <p:cNvPr id="8" name="fact-card-1"/>
          <p:cNvSpPr/>
          <p:nvPr/>
        </p:nvSpPr>
        <p:spPr>
          <a:xfrm>
            <a:off x="4338218" y="4846320"/>
            <a:ext cx="3515258" cy="1280160"/>
          </a:xfrm>
          <a:prstGeom prst="roundRect">
            <a:avLst>
              <a:gd name="adj" fmla="val 8571"/>
            </a:avLst>
          </a:prstGeom>
          <a:solidFill>
            <a:schemeClr val="bg2"/>
          </a:solidFill>
          <a:ln/>
        </p:spPr>
      </p:sp>
      <p:sp>
        <p:nvSpPr>
          <p:cNvPr id="9" name="fact-1-circle"/>
          <p:cNvSpPr/>
          <p:nvPr/>
        </p:nvSpPr>
        <p:spPr>
          <a:xfrm>
            <a:off x="4566818" y="5074920"/>
            <a:ext cx="640080" cy="640080"/>
          </a:xfrm>
          <a:prstGeom prst="ellipse">
            <a:avLst/>
          </a:prstGeom>
          <a:solidFill>
            <a:schemeClr val="accent3"/>
          </a:solidFill>
          <a:ln/>
        </p:spPr>
      </p:sp>
      <p:pic>
        <p:nvPicPr>
          <p:cNvPr id="10" name="fact-1-icon" descr="BroadcastTower icon">    </p:cNvPr>
          <p:cNvPicPr>
            <a:picLocks noChangeAspect="1"/>
          </p:cNvPicPr>
          <p:nvPr/>
        </p:nvPicPr>
        <p:blipFill>
          <a:blip r:embed="rId2"/>
          <a:stretch>
            <a:fillRect/>
          </a:stretch>
        </p:blipFill>
        <p:spPr>
          <a:xfrm>
            <a:off x="4726838" y="5234940"/>
            <a:ext cx="320040" cy="320040"/>
          </a:xfrm>
          <a:prstGeom prst="rect">
            <a:avLst/>
          </a:prstGeom>
        </p:spPr>
      </p:pic>
      <p:sp>
        <p:nvSpPr>
          <p:cNvPr id="11" name="fact-text-1"/>
          <p:cNvSpPr txBox="1"/>
          <p:nvPr/>
        </p:nvSpPr>
        <p:spPr>
          <a:xfrm>
            <a:off x="5389778" y="5010912"/>
            <a:ext cx="2280818" cy="1005840"/>
          </a:xfrm>
          <a:prstGeom prst="rect">
            <a:avLst/>
          </a:prstGeom>
          <a:noFill/>
          <a:ln/>
        </p:spPr>
        <p:txBody>
          <a:bodyPr wrap="square" lIns="0" tIns="0" rIns="0" bIns="0" rtlCol="0" anchor="ctr"/>
          <a:lstStyle/>
          <a:p>
            <a:pPr indent="0" marL="0">
              <a:buNone/>
            </a:pPr>
            <a:r>
              <a:rPr lang="en-US" sz="1500" b="1" dirty="0">
                <a:solidFill>
                  <a:schemeClr val="tx1"/>
                </a:solidFill>
              </a:rPr>
              <a:t>Real-time bonus</a:t>
            </a:r>
            <a:endParaRPr lang="en-US" sz="1500" dirty="0"/>
          </a:p>
          <a:p>
            <a:pPr indent="0" marL="0">
              <a:buNone/>
            </a:pPr>
            <a:r>
              <a:rPr lang="en-US" sz="1300" dirty="0">
                <a:solidFill>
                  <a:schemeClr val="accent4"/>
                </a:solidFill>
              </a:rPr>
              <a:t>Live traffic changes every time the notebook runs</a:t>
            </a:r>
            <a:endParaRPr lang="en-US" sz="1500" dirty="0"/>
          </a:p>
        </p:txBody>
      </p:sp>
      <p:sp>
        <p:nvSpPr>
          <p:cNvPr id="12" name="fact-card-2"/>
          <p:cNvSpPr/>
          <p:nvPr/>
        </p:nvSpPr>
        <p:spPr>
          <a:xfrm>
            <a:off x="8127797" y="4846320"/>
            <a:ext cx="3515258" cy="1280160"/>
          </a:xfrm>
          <a:prstGeom prst="roundRect">
            <a:avLst>
              <a:gd name="adj" fmla="val 8571"/>
            </a:avLst>
          </a:prstGeom>
          <a:solidFill>
            <a:schemeClr val="bg2"/>
          </a:solidFill>
          <a:ln/>
        </p:spPr>
      </p:sp>
      <p:sp>
        <p:nvSpPr>
          <p:cNvPr id="13" name="fact-2-circle"/>
          <p:cNvSpPr/>
          <p:nvPr/>
        </p:nvSpPr>
        <p:spPr>
          <a:xfrm>
            <a:off x="8356397" y="5074920"/>
            <a:ext cx="640080" cy="640080"/>
          </a:xfrm>
          <a:prstGeom prst="ellipse">
            <a:avLst/>
          </a:prstGeom>
          <a:solidFill>
            <a:schemeClr val="accent1"/>
          </a:solidFill>
          <a:ln/>
        </p:spPr>
      </p:sp>
      <p:pic>
        <p:nvPicPr>
          <p:cNvPr id="14" name="fact-2-icon" descr="CheckCircle icon">    </p:cNvPr>
          <p:cNvPicPr>
            <a:picLocks noChangeAspect="1"/>
          </p:cNvPicPr>
          <p:nvPr/>
        </p:nvPicPr>
        <p:blipFill>
          <a:blip r:embed="rId3"/>
          <a:stretch>
            <a:fillRect/>
          </a:stretch>
        </p:blipFill>
        <p:spPr>
          <a:xfrm>
            <a:off x="8516417" y="5234940"/>
            <a:ext cx="320040" cy="320040"/>
          </a:xfrm>
          <a:prstGeom prst="rect">
            <a:avLst/>
          </a:prstGeom>
        </p:spPr>
      </p:pic>
      <p:sp>
        <p:nvSpPr>
          <p:cNvPr id="15" name="fact-text-2"/>
          <p:cNvSpPr txBox="1"/>
          <p:nvPr/>
        </p:nvSpPr>
        <p:spPr>
          <a:xfrm>
            <a:off x="9179357" y="5010912"/>
            <a:ext cx="2280818" cy="1005840"/>
          </a:xfrm>
          <a:prstGeom prst="rect">
            <a:avLst/>
          </a:prstGeom>
          <a:noFill/>
          <a:ln/>
        </p:spPr>
        <p:txBody>
          <a:bodyPr wrap="square" lIns="0" tIns="0" rIns="0" bIns="0" rtlCol="0" anchor="ctr"/>
          <a:lstStyle/>
          <a:p>
            <a:pPr indent="0" marL="0">
              <a:buNone/>
            </a:pPr>
            <a:r>
              <a:rPr lang="en-US" sz="1500" b="1" dirty="0">
                <a:solidFill>
                  <a:schemeClr val="tx1"/>
                </a:solidFill>
              </a:rPr>
              <a:t>Every required format</a:t>
            </a:r>
            <a:endParaRPr lang="en-US" sz="1500" dirty="0"/>
          </a:p>
          <a:p>
            <a:pPr indent="0" marL="0">
              <a:buNone/>
            </a:pPr>
            <a:r>
              <a:rPr lang="en-US" sz="1300" dirty="0">
                <a:solidFill>
                  <a:schemeClr val="accent4"/>
                </a:solidFill>
              </a:rPr>
              <a:t>CSV, JSON and APIs, plus Parquet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pipeline: from the internet to insights</a:t>
            </a:r>
            <a:endParaRPr lang="en-US" sz="3600" dirty="0"/>
          </a:p>
        </p:txBody>
      </p:sp>
      <p:sp>
        <p:nvSpPr>
          <p:cNvPr id="3" name="flow-card-0"/>
          <p:cNvSpPr/>
          <p:nvPr/>
        </p:nvSpPr>
        <p:spPr>
          <a:xfrm>
            <a:off x="548640" y="1371600"/>
            <a:ext cx="1572768" cy="1965960"/>
          </a:xfrm>
          <a:prstGeom prst="roundRect">
            <a:avLst>
              <a:gd name="adj" fmla="val 6977"/>
            </a:avLst>
          </a:prstGeom>
          <a:solidFill>
            <a:schemeClr val="bg2"/>
          </a:solidFill>
          <a:ln/>
        </p:spPr>
      </p:sp>
      <p:sp>
        <p:nvSpPr>
          <p:cNvPr id="4" name="flow-0-circle"/>
          <p:cNvSpPr/>
          <p:nvPr/>
        </p:nvSpPr>
        <p:spPr>
          <a:xfrm>
            <a:off x="969264" y="1554480"/>
            <a:ext cx="731520" cy="731520"/>
          </a:xfrm>
          <a:prstGeom prst="ellipse">
            <a:avLst/>
          </a:prstGeom>
          <a:solidFill>
            <a:schemeClr val="accent2"/>
          </a:solidFill>
          <a:ln/>
        </p:spPr>
      </p:sp>
      <p:pic>
        <p:nvPicPr>
          <p:cNvPr id="5" name="flow-0-icon" descr="CloudDownloadAlt icon">    </p:cNvPr>
          <p:cNvPicPr>
            <a:picLocks noChangeAspect="1"/>
          </p:cNvPicPr>
          <p:nvPr/>
        </p:nvPicPr>
        <p:blipFill>
          <a:blip r:embed="rId1"/>
          <a:stretch>
            <a:fillRect/>
          </a:stretch>
        </p:blipFill>
        <p:spPr>
          <a:xfrm>
            <a:off x="1152144" y="1737360"/>
            <a:ext cx="365760" cy="365760"/>
          </a:xfrm>
          <a:prstGeom prst="rect">
            <a:avLst/>
          </a:prstGeom>
        </p:spPr>
      </p:pic>
      <p:sp>
        <p:nvSpPr>
          <p:cNvPr id="6" name="flow-head-0"/>
          <p:cNvSpPr txBox="1"/>
          <p:nvPr/>
        </p:nvSpPr>
        <p:spPr>
          <a:xfrm>
            <a:off x="548640"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Download</a:t>
            </a:r>
            <a:endParaRPr lang="en-US" sz="1600" dirty="0"/>
          </a:p>
        </p:txBody>
      </p:sp>
      <p:sp>
        <p:nvSpPr>
          <p:cNvPr id="7" name="flow-text-0"/>
          <p:cNvSpPr txBox="1"/>
          <p:nvPr/>
        </p:nvSpPr>
        <p:spPr>
          <a:xfrm>
            <a:off x="658368"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2 files + 4 APIs</a:t>
            </a:r>
            <a:endParaRPr lang="en-US" sz="1200" dirty="0"/>
          </a:p>
        </p:txBody>
      </p:sp>
      <p:sp>
        <p:nvSpPr>
          <p:cNvPr id="8" name="flow-arrow-0"/>
          <p:cNvSpPr/>
          <p:nvPr/>
        </p:nvSpPr>
        <p:spPr>
          <a:xfrm>
            <a:off x="2181089" y="2212848"/>
            <a:ext cx="212199" cy="292608"/>
          </a:xfrm>
          <a:prstGeom prst="rightArrow">
            <a:avLst/>
          </a:prstGeom>
          <a:solidFill>
            <a:schemeClr val="accent6"/>
          </a:solidFill>
          <a:ln/>
        </p:spPr>
      </p:sp>
      <p:sp>
        <p:nvSpPr>
          <p:cNvPr id="9" name="flow-card-1"/>
          <p:cNvSpPr/>
          <p:nvPr/>
        </p:nvSpPr>
        <p:spPr>
          <a:xfrm>
            <a:off x="2452969" y="1371600"/>
            <a:ext cx="1572768" cy="1965960"/>
          </a:xfrm>
          <a:prstGeom prst="roundRect">
            <a:avLst>
              <a:gd name="adj" fmla="val 6977"/>
            </a:avLst>
          </a:prstGeom>
          <a:solidFill>
            <a:schemeClr val="bg2"/>
          </a:solidFill>
          <a:ln/>
        </p:spPr>
      </p:sp>
      <p:sp>
        <p:nvSpPr>
          <p:cNvPr id="10" name="flow-1-circle"/>
          <p:cNvSpPr/>
          <p:nvPr/>
        </p:nvSpPr>
        <p:spPr>
          <a:xfrm>
            <a:off x="2873593" y="1554480"/>
            <a:ext cx="731520" cy="731520"/>
          </a:xfrm>
          <a:prstGeom prst="ellipse">
            <a:avLst/>
          </a:prstGeom>
          <a:solidFill>
            <a:schemeClr val="accent4"/>
          </a:solidFill>
          <a:ln/>
        </p:spPr>
      </p:sp>
      <p:pic>
        <p:nvPicPr>
          <p:cNvPr id="11" name="flow-1-icon" descr="FolderOpen icon">    </p:cNvPr>
          <p:cNvPicPr>
            <a:picLocks noChangeAspect="1"/>
          </p:cNvPicPr>
          <p:nvPr/>
        </p:nvPicPr>
        <p:blipFill>
          <a:blip r:embed="rId2"/>
          <a:stretch>
            <a:fillRect/>
          </a:stretch>
        </p:blipFill>
        <p:spPr>
          <a:xfrm>
            <a:off x="3056473" y="1737360"/>
            <a:ext cx="365760" cy="365760"/>
          </a:xfrm>
          <a:prstGeom prst="rect">
            <a:avLst/>
          </a:prstGeom>
        </p:spPr>
      </p:pic>
      <p:sp>
        <p:nvSpPr>
          <p:cNvPr id="12" name="flow-head-1"/>
          <p:cNvSpPr txBox="1"/>
          <p:nvPr/>
        </p:nvSpPr>
        <p:spPr>
          <a:xfrm>
            <a:off x="2452969"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Store</a:t>
            </a:r>
            <a:endParaRPr lang="en-US" sz="1600" dirty="0"/>
          </a:p>
        </p:txBody>
      </p:sp>
      <p:sp>
        <p:nvSpPr>
          <p:cNvPr id="13" name="flow-text-1"/>
          <p:cNvSpPr txBox="1"/>
          <p:nvPr/>
        </p:nvSpPr>
        <p:spPr>
          <a:xfrm>
            <a:off x="2562697"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data/raw/ on the Colab machine</a:t>
            </a:r>
            <a:endParaRPr lang="en-US" sz="1200" dirty="0"/>
          </a:p>
        </p:txBody>
      </p:sp>
      <p:sp>
        <p:nvSpPr>
          <p:cNvPr id="14" name="flow-arrow-1"/>
          <p:cNvSpPr/>
          <p:nvPr/>
        </p:nvSpPr>
        <p:spPr>
          <a:xfrm>
            <a:off x="4085418" y="2212848"/>
            <a:ext cx="212199" cy="292608"/>
          </a:xfrm>
          <a:prstGeom prst="rightArrow">
            <a:avLst/>
          </a:prstGeom>
          <a:solidFill>
            <a:schemeClr val="accent6"/>
          </a:solidFill>
          <a:ln/>
        </p:spPr>
      </p:sp>
      <p:sp>
        <p:nvSpPr>
          <p:cNvPr id="15" name="flow-card-2"/>
          <p:cNvSpPr/>
          <p:nvPr/>
        </p:nvSpPr>
        <p:spPr>
          <a:xfrm>
            <a:off x="4357299" y="1371600"/>
            <a:ext cx="1572768" cy="1965960"/>
          </a:xfrm>
          <a:prstGeom prst="roundRect">
            <a:avLst>
              <a:gd name="adj" fmla="val 6977"/>
            </a:avLst>
          </a:prstGeom>
          <a:solidFill>
            <a:schemeClr val="bg2"/>
          </a:solidFill>
          <a:ln/>
        </p:spPr>
      </p:sp>
      <p:sp>
        <p:nvSpPr>
          <p:cNvPr id="16" name="flow-2-circle"/>
          <p:cNvSpPr/>
          <p:nvPr/>
        </p:nvSpPr>
        <p:spPr>
          <a:xfrm>
            <a:off x="4777923" y="1554480"/>
            <a:ext cx="731520" cy="731520"/>
          </a:xfrm>
          <a:prstGeom prst="ellipse">
            <a:avLst/>
          </a:prstGeom>
          <a:solidFill>
            <a:schemeClr val="tx2"/>
          </a:solidFill>
          <a:ln/>
        </p:spPr>
      </p:sp>
      <p:pic>
        <p:nvPicPr>
          <p:cNvPr id="17" name="flow-2-icon" descr="Table icon">    </p:cNvPr>
          <p:cNvPicPr>
            <a:picLocks noChangeAspect="1"/>
          </p:cNvPicPr>
          <p:nvPr/>
        </p:nvPicPr>
        <p:blipFill>
          <a:blip r:embed="rId3"/>
          <a:stretch>
            <a:fillRect/>
          </a:stretch>
        </p:blipFill>
        <p:spPr>
          <a:xfrm>
            <a:off x="4960803" y="1737360"/>
            <a:ext cx="365760" cy="365760"/>
          </a:xfrm>
          <a:prstGeom prst="rect">
            <a:avLst/>
          </a:prstGeom>
        </p:spPr>
      </p:pic>
      <p:sp>
        <p:nvSpPr>
          <p:cNvPr id="18" name="flow-head-2"/>
          <p:cNvSpPr txBox="1"/>
          <p:nvPr/>
        </p:nvSpPr>
        <p:spPr>
          <a:xfrm>
            <a:off x="4357299"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Read</a:t>
            </a:r>
            <a:endParaRPr lang="en-US" sz="1600" dirty="0"/>
          </a:p>
        </p:txBody>
      </p:sp>
      <p:sp>
        <p:nvSpPr>
          <p:cNvPr id="19" name="flow-text-2"/>
          <p:cNvSpPr txBox="1"/>
          <p:nvPr/>
        </p:nvSpPr>
        <p:spPr>
          <a:xfrm>
            <a:off x="4467027"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6 Spark DataFrames</a:t>
            </a:r>
            <a:endParaRPr lang="en-US" sz="1200" dirty="0"/>
          </a:p>
        </p:txBody>
      </p:sp>
      <p:sp>
        <p:nvSpPr>
          <p:cNvPr id="20" name="flow-arrow-2"/>
          <p:cNvSpPr/>
          <p:nvPr/>
        </p:nvSpPr>
        <p:spPr>
          <a:xfrm>
            <a:off x="5989748" y="2212848"/>
            <a:ext cx="212199" cy="292608"/>
          </a:xfrm>
          <a:prstGeom prst="rightArrow">
            <a:avLst/>
          </a:prstGeom>
          <a:solidFill>
            <a:schemeClr val="accent6"/>
          </a:solidFill>
          <a:ln/>
        </p:spPr>
      </p:sp>
      <p:sp>
        <p:nvSpPr>
          <p:cNvPr id="21" name="flow-card-3"/>
          <p:cNvSpPr/>
          <p:nvPr/>
        </p:nvSpPr>
        <p:spPr>
          <a:xfrm>
            <a:off x="6261628" y="1371600"/>
            <a:ext cx="1572768" cy="1965960"/>
          </a:xfrm>
          <a:prstGeom prst="roundRect">
            <a:avLst>
              <a:gd name="adj" fmla="val 6977"/>
            </a:avLst>
          </a:prstGeom>
          <a:solidFill>
            <a:schemeClr val="bg2"/>
          </a:solidFill>
          <a:ln/>
        </p:spPr>
      </p:sp>
      <p:sp>
        <p:nvSpPr>
          <p:cNvPr id="22" name="flow-3-circle"/>
          <p:cNvSpPr/>
          <p:nvPr/>
        </p:nvSpPr>
        <p:spPr>
          <a:xfrm>
            <a:off x="6682252" y="1554480"/>
            <a:ext cx="731520" cy="731520"/>
          </a:xfrm>
          <a:prstGeom prst="ellipse">
            <a:avLst/>
          </a:prstGeom>
          <a:solidFill>
            <a:schemeClr val="accent1"/>
          </a:solidFill>
          <a:ln/>
        </p:spPr>
      </p:sp>
      <p:pic>
        <p:nvPicPr>
          <p:cNvPr id="23" name="flow-3-icon" descr="Broom icon">    </p:cNvPr>
          <p:cNvPicPr>
            <a:picLocks noChangeAspect="1"/>
          </p:cNvPicPr>
          <p:nvPr/>
        </p:nvPicPr>
        <p:blipFill>
          <a:blip r:embed="rId4"/>
          <a:stretch>
            <a:fillRect/>
          </a:stretch>
        </p:blipFill>
        <p:spPr>
          <a:xfrm>
            <a:off x="6865132" y="1737360"/>
            <a:ext cx="365760" cy="365760"/>
          </a:xfrm>
          <a:prstGeom prst="rect">
            <a:avLst/>
          </a:prstGeom>
        </p:spPr>
      </p:pic>
      <p:sp>
        <p:nvSpPr>
          <p:cNvPr id="24" name="flow-head-3"/>
          <p:cNvSpPr txBox="1"/>
          <p:nvPr/>
        </p:nvSpPr>
        <p:spPr>
          <a:xfrm>
            <a:off x="6261628"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Clean</a:t>
            </a:r>
            <a:endParaRPr lang="en-US" sz="1600" dirty="0"/>
          </a:p>
        </p:txBody>
      </p:sp>
      <p:sp>
        <p:nvSpPr>
          <p:cNvPr id="25" name="flow-text-3"/>
          <p:cNvSpPr txBox="1"/>
          <p:nvPr/>
        </p:nvSpPr>
        <p:spPr>
          <a:xfrm>
            <a:off x="6371356"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quality rules, dedup, latest readings</a:t>
            </a:r>
            <a:endParaRPr lang="en-US" sz="1200" dirty="0"/>
          </a:p>
        </p:txBody>
      </p:sp>
      <p:sp>
        <p:nvSpPr>
          <p:cNvPr id="26" name="flow-arrow-3"/>
          <p:cNvSpPr/>
          <p:nvPr/>
        </p:nvSpPr>
        <p:spPr>
          <a:xfrm>
            <a:off x="7894077" y="2212848"/>
            <a:ext cx="212199" cy="292608"/>
          </a:xfrm>
          <a:prstGeom prst="rightArrow">
            <a:avLst/>
          </a:prstGeom>
          <a:solidFill>
            <a:schemeClr val="accent6"/>
          </a:solidFill>
          <a:ln/>
        </p:spPr>
      </p:sp>
      <p:sp>
        <p:nvSpPr>
          <p:cNvPr id="27" name="flow-card-4"/>
          <p:cNvSpPr/>
          <p:nvPr/>
        </p:nvSpPr>
        <p:spPr>
          <a:xfrm>
            <a:off x="8165958" y="1371600"/>
            <a:ext cx="1572768" cy="1965960"/>
          </a:xfrm>
          <a:prstGeom prst="roundRect">
            <a:avLst>
              <a:gd name="adj" fmla="val 6977"/>
            </a:avLst>
          </a:prstGeom>
          <a:solidFill>
            <a:schemeClr val="bg2"/>
          </a:solidFill>
          <a:ln/>
        </p:spPr>
      </p:sp>
      <p:sp>
        <p:nvSpPr>
          <p:cNvPr id="28" name="flow-4-circle"/>
          <p:cNvSpPr/>
          <p:nvPr/>
        </p:nvSpPr>
        <p:spPr>
          <a:xfrm>
            <a:off x="8586582" y="1554480"/>
            <a:ext cx="731520" cy="731520"/>
          </a:xfrm>
          <a:prstGeom prst="ellipse">
            <a:avLst/>
          </a:prstGeom>
          <a:solidFill>
            <a:schemeClr val="accent3"/>
          </a:solidFill>
          <a:ln/>
        </p:spPr>
      </p:sp>
      <p:pic>
        <p:nvPicPr>
          <p:cNvPr id="29" name="flow-4-icon" descr="Search icon">    </p:cNvPr>
          <p:cNvPicPr>
            <a:picLocks noChangeAspect="1"/>
          </p:cNvPicPr>
          <p:nvPr/>
        </p:nvPicPr>
        <p:blipFill>
          <a:blip r:embed="rId5"/>
          <a:stretch>
            <a:fillRect/>
          </a:stretch>
        </p:blipFill>
        <p:spPr>
          <a:xfrm>
            <a:off x="8769462" y="1737360"/>
            <a:ext cx="365760" cy="365760"/>
          </a:xfrm>
          <a:prstGeom prst="rect">
            <a:avLst/>
          </a:prstGeom>
        </p:spPr>
      </p:pic>
      <p:sp>
        <p:nvSpPr>
          <p:cNvPr id="30" name="flow-head-4"/>
          <p:cNvSpPr txBox="1"/>
          <p:nvPr/>
        </p:nvSpPr>
        <p:spPr>
          <a:xfrm>
            <a:off x="8165958"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Analyze</a:t>
            </a:r>
            <a:endParaRPr lang="en-US" sz="1600" dirty="0"/>
          </a:p>
        </p:txBody>
      </p:sp>
      <p:sp>
        <p:nvSpPr>
          <p:cNvPr id="31" name="flow-text-4"/>
          <p:cNvSpPr txBox="1"/>
          <p:nvPr/>
        </p:nvSpPr>
        <p:spPr>
          <a:xfrm>
            <a:off x="8275686"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10 queries, 5 optimizations</a:t>
            </a:r>
            <a:endParaRPr lang="en-US" sz="1200" dirty="0"/>
          </a:p>
        </p:txBody>
      </p:sp>
      <p:sp>
        <p:nvSpPr>
          <p:cNvPr id="32" name="flow-arrow-4"/>
          <p:cNvSpPr/>
          <p:nvPr/>
        </p:nvSpPr>
        <p:spPr>
          <a:xfrm>
            <a:off x="9798407" y="2212848"/>
            <a:ext cx="212199" cy="292608"/>
          </a:xfrm>
          <a:prstGeom prst="rightArrow">
            <a:avLst/>
          </a:prstGeom>
          <a:solidFill>
            <a:schemeClr val="accent6"/>
          </a:solidFill>
          <a:ln/>
        </p:spPr>
      </p:sp>
      <p:sp>
        <p:nvSpPr>
          <p:cNvPr id="33" name="flow-card-5"/>
          <p:cNvSpPr/>
          <p:nvPr/>
        </p:nvSpPr>
        <p:spPr>
          <a:xfrm>
            <a:off x="10070287" y="1371600"/>
            <a:ext cx="1572768" cy="1965960"/>
          </a:xfrm>
          <a:prstGeom prst="roundRect">
            <a:avLst>
              <a:gd name="adj" fmla="val 6977"/>
            </a:avLst>
          </a:prstGeom>
          <a:solidFill>
            <a:schemeClr val="bg2"/>
          </a:solidFill>
          <a:ln/>
        </p:spPr>
      </p:sp>
      <p:sp>
        <p:nvSpPr>
          <p:cNvPr id="34" name="flow-5-circle"/>
          <p:cNvSpPr/>
          <p:nvPr/>
        </p:nvSpPr>
        <p:spPr>
          <a:xfrm>
            <a:off x="10490911" y="1554480"/>
            <a:ext cx="731520" cy="731520"/>
          </a:xfrm>
          <a:prstGeom prst="ellipse">
            <a:avLst/>
          </a:prstGeom>
          <a:solidFill>
            <a:schemeClr val="accent2"/>
          </a:solidFill>
          <a:ln/>
        </p:spPr>
      </p:sp>
      <p:pic>
        <p:nvPicPr>
          <p:cNvPr id="35" name="flow-5-icon" descr="ChartBar icon">    </p:cNvPr>
          <p:cNvPicPr>
            <a:picLocks noChangeAspect="1"/>
          </p:cNvPicPr>
          <p:nvPr/>
        </p:nvPicPr>
        <p:blipFill>
          <a:blip r:embed="rId6"/>
          <a:stretch>
            <a:fillRect/>
          </a:stretch>
        </p:blipFill>
        <p:spPr>
          <a:xfrm>
            <a:off x="10673791" y="1737360"/>
            <a:ext cx="365760" cy="365760"/>
          </a:xfrm>
          <a:prstGeom prst="rect">
            <a:avLst/>
          </a:prstGeom>
        </p:spPr>
      </p:pic>
      <p:sp>
        <p:nvSpPr>
          <p:cNvPr id="36" name="flow-head-5"/>
          <p:cNvSpPr txBox="1"/>
          <p:nvPr/>
        </p:nvSpPr>
        <p:spPr>
          <a:xfrm>
            <a:off x="10070287" y="2377440"/>
            <a:ext cx="1572768" cy="365760"/>
          </a:xfrm>
          <a:prstGeom prst="rect">
            <a:avLst/>
          </a:prstGeom>
          <a:noFill/>
          <a:ln/>
        </p:spPr>
        <p:txBody>
          <a:bodyPr wrap="square" lIns="0" tIns="0" rIns="0" bIns="0" rtlCol="0" anchor="t"/>
          <a:lstStyle/>
          <a:p>
            <a:pPr algn="ctr" indent="0" marL="0">
              <a:buNone/>
            </a:pPr>
            <a:r>
              <a:rPr lang="en-US" sz="1600" b="1" dirty="0">
                <a:solidFill>
                  <a:schemeClr val="tx1"/>
                </a:solidFill>
              </a:rPr>
              <a:t>Output</a:t>
            </a:r>
            <a:endParaRPr lang="en-US" sz="1600" dirty="0"/>
          </a:p>
        </p:txBody>
      </p:sp>
      <p:sp>
        <p:nvSpPr>
          <p:cNvPr id="37" name="flow-text-5"/>
          <p:cNvSpPr txBox="1"/>
          <p:nvPr/>
        </p:nvSpPr>
        <p:spPr>
          <a:xfrm>
            <a:off x="10180015" y="2743200"/>
            <a:ext cx="1353312" cy="777240"/>
          </a:xfrm>
          <a:prstGeom prst="rect">
            <a:avLst/>
          </a:prstGeom>
          <a:noFill/>
          <a:ln/>
        </p:spPr>
        <p:txBody>
          <a:bodyPr wrap="square" lIns="0" tIns="0" rIns="0" bIns="0" rtlCol="0" anchor="t"/>
          <a:lstStyle/>
          <a:p>
            <a:pPr algn="ctr" indent="0" marL="0">
              <a:buNone/>
            </a:pPr>
            <a:r>
              <a:rPr lang="en-US" sz="1200" dirty="0">
                <a:solidFill>
                  <a:schemeClr val="accent4"/>
                </a:solidFill>
              </a:rPr>
              <a:t>charts, CSV results, Parquet, Spark UI</a:t>
            </a:r>
            <a:endParaRPr lang="en-US" sz="1200" dirty="0"/>
          </a:p>
        </p:txBody>
      </p:sp>
      <p:sp>
        <p:nvSpPr>
          <p:cNvPr id="38" name="steps-head"/>
          <p:cNvSpPr txBox="1"/>
          <p:nvPr/>
        </p:nvSpPr>
        <p:spPr>
          <a:xfrm>
            <a:off x="548640" y="3611880"/>
            <a:ext cx="11094415" cy="365760"/>
          </a:xfrm>
          <a:prstGeom prst="rect">
            <a:avLst/>
          </a:prstGeom>
          <a:noFill/>
          <a:ln/>
        </p:spPr>
        <p:txBody>
          <a:bodyPr wrap="square" lIns="0" tIns="0" rIns="0" bIns="0" rtlCol="0" anchor="t"/>
          <a:lstStyle/>
          <a:p>
            <a:pPr indent="0" marL="0">
              <a:buNone/>
            </a:pPr>
            <a:r>
              <a:rPr lang="en-US" sz="1800" b="1" dirty="0">
                <a:solidFill>
                  <a:schemeClr val="tx1"/>
                </a:solidFill>
              </a:rPr>
              <a:t>The 7 required steps, all in one notebook</a:t>
            </a:r>
            <a:endParaRPr lang="en-US" sz="1800" dirty="0"/>
          </a:p>
        </p:txBody>
      </p:sp>
      <p:sp>
        <p:nvSpPr>
          <p:cNvPr id="39" name="seven-0"/>
          <p:cNvSpPr/>
          <p:nvPr/>
        </p:nvSpPr>
        <p:spPr>
          <a:xfrm>
            <a:off x="548640" y="4069080"/>
            <a:ext cx="1467351" cy="1143000"/>
          </a:xfrm>
          <a:prstGeom prst="roundRect">
            <a:avLst>
              <a:gd name="adj" fmla="val 8000"/>
            </a:avLst>
          </a:prstGeom>
          <a:solidFill>
            <a:schemeClr val="tx1"/>
          </a:solidFill>
          <a:ln/>
        </p:spPr>
      </p:sp>
      <p:sp>
        <p:nvSpPr>
          <p:cNvPr id="40" name="seven-text-0"/>
          <p:cNvSpPr txBox="1"/>
          <p:nvPr/>
        </p:nvSpPr>
        <p:spPr>
          <a:xfrm>
            <a:off x="685800"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1  Set up</a:t>
            </a:r>
            <a:endParaRPr lang="en-US" sz="1400" dirty="0"/>
          </a:p>
          <a:p>
            <a:pPr indent="0" marL="0">
              <a:buNone/>
            </a:pPr>
            <a:r>
              <a:rPr lang="en-US" sz="1200" dirty="0">
                <a:solidFill>
                  <a:schemeClr val="accent6"/>
                </a:solidFill>
              </a:rPr>
              <a:t>start Spark</a:t>
            </a:r>
            <a:endParaRPr lang="en-US" sz="1400" dirty="0"/>
          </a:p>
        </p:txBody>
      </p:sp>
      <p:sp>
        <p:nvSpPr>
          <p:cNvPr id="41" name="seven-1"/>
          <p:cNvSpPr/>
          <p:nvPr/>
        </p:nvSpPr>
        <p:spPr>
          <a:xfrm>
            <a:off x="2153151" y="4069080"/>
            <a:ext cx="1467351" cy="1143000"/>
          </a:xfrm>
          <a:prstGeom prst="roundRect">
            <a:avLst>
              <a:gd name="adj" fmla="val 8000"/>
            </a:avLst>
          </a:prstGeom>
          <a:solidFill>
            <a:schemeClr val="tx1"/>
          </a:solidFill>
          <a:ln/>
        </p:spPr>
      </p:sp>
      <p:sp>
        <p:nvSpPr>
          <p:cNvPr id="42" name="seven-text-1"/>
          <p:cNvSpPr txBox="1"/>
          <p:nvPr/>
        </p:nvSpPr>
        <p:spPr>
          <a:xfrm>
            <a:off x="2290311"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2  Load</a:t>
            </a:r>
            <a:endParaRPr lang="en-US" sz="1400" dirty="0"/>
          </a:p>
          <a:p>
            <a:pPr indent="0" marL="0">
              <a:buNone/>
            </a:pPr>
            <a:r>
              <a:rPr lang="en-US" sz="1200" dirty="0">
                <a:solidFill>
                  <a:schemeClr val="accent6"/>
                </a:solidFill>
              </a:rPr>
              <a:t>files and APIs</a:t>
            </a:r>
            <a:endParaRPr lang="en-US" sz="1400" dirty="0"/>
          </a:p>
        </p:txBody>
      </p:sp>
      <p:sp>
        <p:nvSpPr>
          <p:cNvPr id="43" name="seven-2"/>
          <p:cNvSpPr/>
          <p:nvPr/>
        </p:nvSpPr>
        <p:spPr>
          <a:xfrm>
            <a:off x="3757661" y="4069080"/>
            <a:ext cx="1467351" cy="1143000"/>
          </a:xfrm>
          <a:prstGeom prst="roundRect">
            <a:avLst>
              <a:gd name="adj" fmla="val 8000"/>
            </a:avLst>
          </a:prstGeom>
          <a:solidFill>
            <a:schemeClr val="tx1"/>
          </a:solidFill>
          <a:ln/>
        </p:spPr>
      </p:sp>
      <p:sp>
        <p:nvSpPr>
          <p:cNvPr id="44" name="seven-text-2"/>
          <p:cNvSpPr txBox="1"/>
          <p:nvPr/>
        </p:nvSpPr>
        <p:spPr>
          <a:xfrm>
            <a:off x="3894821"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3  Distribute</a:t>
            </a:r>
            <a:endParaRPr lang="en-US" sz="1400" dirty="0"/>
          </a:p>
          <a:p>
            <a:pPr indent="0" marL="0">
              <a:buNone/>
            </a:pPr>
            <a:r>
              <a:rPr lang="en-US" sz="1200" dirty="0">
                <a:solidFill>
                  <a:schemeClr val="accent6"/>
                </a:solidFill>
              </a:rPr>
              <a:t>partitions</a:t>
            </a:r>
            <a:endParaRPr lang="en-US" sz="1400" dirty="0"/>
          </a:p>
        </p:txBody>
      </p:sp>
      <p:sp>
        <p:nvSpPr>
          <p:cNvPr id="45" name="seven-3"/>
          <p:cNvSpPr/>
          <p:nvPr/>
        </p:nvSpPr>
        <p:spPr>
          <a:xfrm>
            <a:off x="5362172" y="4069080"/>
            <a:ext cx="1467351" cy="1143000"/>
          </a:xfrm>
          <a:prstGeom prst="roundRect">
            <a:avLst>
              <a:gd name="adj" fmla="val 8000"/>
            </a:avLst>
          </a:prstGeom>
          <a:solidFill>
            <a:schemeClr val="tx1"/>
          </a:solidFill>
          <a:ln/>
        </p:spPr>
      </p:sp>
      <p:sp>
        <p:nvSpPr>
          <p:cNvPr id="46" name="seven-text-3"/>
          <p:cNvSpPr txBox="1"/>
          <p:nvPr/>
        </p:nvSpPr>
        <p:spPr>
          <a:xfrm>
            <a:off x="5499332"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4  Transform</a:t>
            </a:r>
            <a:endParaRPr lang="en-US" sz="1400" dirty="0"/>
          </a:p>
          <a:p>
            <a:pPr indent="0" marL="0">
              <a:buNone/>
            </a:pPr>
            <a:r>
              <a:rPr lang="en-US" sz="1200" dirty="0">
                <a:solidFill>
                  <a:schemeClr val="accent6"/>
                </a:solidFill>
              </a:rPr>
              <a:t>clean + 10 queries</a:t>
            </a:r>
            <a:endParaRPr lang="en-US" sz="1400" dirty="0"/>
          </a:p>
        </p:txBody>
      </p:sp>
      <p:sp>
        <p:nvSpPr>
          <p:cNvPr id="47" name="seven-4"/>
          <p:cNvSpPr/>
          <p:nvPr/>
        </p:nvSpPr>
        <p:spPr>
          <a:xfrm>
            <a:off x="6966683" y="4069080"/>
            <a:ext cx="1467351" cy="1143000"/>
          </a:xfrm>
          <a:prstGeom prst="roundRect">
            <a:avLst>
              <a:gd name="adj" fmla="val 8000"/>
            </a:avLst>
          </a:prstGeom>
          <a:solidFill>
            <a:schemeClr val="tx1"/>
          </a:solidFill>
          <a:ln/>
        </p:spPr>
      </p:sp>
      <p:sp>
        <p:nvSpPr>
          <p:cNvPr id="48" name="seven-text-4"/>
          <p:cNvSpPr txBox="1"/>
          <p:nvPr/>
        </p:nvSpPr>
        <p:spPr>
          <a:xfrm>
            <a:off x="7103843"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5  Optimize</a:t>
            </a:r>
            <a:endParaRPr lang="en-US" sz="1400" dirty="0"/>
          </a:p>
          <a:p>
            <a:pPr indent="0" marL="0">
              <a:buNone/>
            </a:pPr>
            <a:r>
              <a:rPr lang="en-US" sz="1200" dirty="0">
                <a:solidFill>
                  <a:schemeClr val="accent6"/>
                </a:solidFill>
              </a:rPr>
              <a:t>5 experiments</a:t>
            </a:r>
            <a:endParaRPr lang="en-US" sz="1400" dirty="0"/>
          </a:p>
        </p:txBody>
      </p:sp>
      <p:sp>
        <p:nvSpPr>
          <p:cNvPr id="49" name="seven-5"/>
          <p:cNvSpPr/>
          <p:nvPr/>
        </p:nvSpPr>
        <p:spPr>
          <a:xfrm>
            <a:off x="8571194" y="4069080"/>
            <a:ext cx="1467351" cy="1143000"/>
          </a:xfrm>
          <a:prstGeom prst="roundRect">
            <a:avLst>
              <a:gd name="adj" fmla="val 8000"/>
            </a:avLst>
          </a:prstGeom>
          <a:solidFill>
            <a:schemeClr val="tx1"/>
          </a:solidFill>
          <a:ln/>
        </p:spPr>
      </p:sp>
      <p:sp>
        <p:nvSpPr>
          <p:cNvPr id="50" name="seven-text-5"/>
          <p:cNvSpPr txBox="1"/>
          <p:nvPr/>
        </p:nvSpPr>
        <p:spPr>
          <a:xfrm>
            <a:off x="8708354"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6  Capture</a:t>
            </a:r>
            <a:endParaRPr lang="en-US" sz="1400" dirty="0"/>
          </a:p>
          <a:p>
            <a:pPr indent="0" marL="0">
              <a:buNone/>
            </a:pPr>
            <a:r>
              <a:rPr lang="en-US" sz="1200" dirty="0">
                <a:solidFill>
                  <a:schemeClr val="accent6"/>
                </a:solidFill>
              </a:rPr>
              <a:t>save results</a:t>
            </a:r>
            <a:endParaRPr lang="en-US" sz="1400" dirty="0"/>
          </a:p>
        </p:txBody>
      </p:sp>
      <p:sp>
        <p:nvSpPr>
          <p:cNvPr id="51" name="seven-6"/>
          <p:cNvSpPr/>
          <p:nvPr/>
        </p:nvSpPr>
        <p:spPr>
          <a:xfrm>
            <a:off x="10175704" y="4069080"/>
            <a:ext cx="1467351" cy="1143000"/>
          </a:xfrm>
          <a:prstGeom prst="roundRect">
            <a:avLst>
              <a:gd name="adj" fmla="val 8000"/>
            </a:avLst>
          </a:prstGeom>
          <a:solidFill>
            <a:schemeClr val="tx1"/>
          </a:solidFill>
          <a:ln/>
        </p:spPr>
      </p:sp>
      <p:sp>
        <p:nvSpPr>
          <p:cNvPr id="52" name="seven-text-6"/>
          <p:cNvSpPr txBox="1"/>
          <p:nvPr/>
        </p:nvSpPr>
        <p:spPr>
          <a:xfrm>
            <a:off x="10312864" y="4160520"/>
            <a:ext cx="1238751" cy="960120"/>
          </a:xfrm>
          <a:prstGeom prst="rect">
            <a:avLst/>
          </a:prstGeom>
          <a:noFill/>
          <a:ln/>
        </p:spPr>
        <p:txBody>
          <a:bodyPr wrap="square" lIns="0" tIns="0" rIns="0" bIns="0" rtlCol="0" anchor="ctr"/>
          <a:lstStyle/>
          <a:p>
            <a:pPr indent="0" marL="0">
              <a:buNone/>
            </a:pPr>
            <a:r>
              <a:rPr lang="en-US" sz="1500" b="1" dirty="0">
                <a:solidFill>
                  <a:schemeClr val="bg1"/>
                </a:solidFill>
              </a:rPr>
              <a:t>7  Analyze</a:t>
            </a:r>
            <a:endParaRPr lang="en-US" sz="1400" dirty="0"/>
          </a:p>
          <a:p>
            <a:pPr indent="0" marL="0">
              <a:buNone/>
            </a:pPr>
            <a:r>
              <a:rPr lang="en-US" sz="1200" dirty="0">
                <a:solidFill>
                  <a:schemeClr val="accent6"/>
                </a:solidFill>
              </a:rPr>
              <a:t>compare and conclude</a:t>
            </a:r>
            <a:endParaRPr lang="en-US" sz="1400" dirty="0"/>
          </a:p>
        </p:txBody>
      </p:sp>
      <p:sp>
        <p:nvSpPr>
          <p:cNvPr id="53" name="colab-note"/>
          <p:cNvSpPr txBox="1"/>
          <p:nvPr/>
        </p:nvSpPr>
        <p:spPr>
          <a:xfrm>
            <a:off x="548640" y="5440680"/>
            <a:ext cx="11094415" cy="548640"/>
          </a:xfrm>
          <a:prstGeom prst="rect">
            <a:avLst/>
          </a:prstGeom>
          <a:noFill/>
          <a:ln/>
        </p:spPr>
        <p:txBody>
          <a:bodyPr wrap="square" lIns="0" tIns="0" rIns="0" bIns="0" rtlCol="0" anchor="t"/>
          <a:lstStyle/>
          <a:p>
            <a:pPr indent="0" marL="0">
              <a:buNone/>
            </a:pPr>
            <a:r>
              <a:rPr lang="en-US" sz="1400" b="1" dirty="0">
                <a:solidFill>
                  <a:schemeClr val="tx1"/>
                </a:solidFill>
              </a:rPr>
              <a:t>Runs in Google Colab: </a:t>
            </a:r>
            <a:pPr indent="0" marL="0">
              <a:buNone/>
            </a:pPr>
            <a:r>
              <a:rPr lang="en-US" sz="1400" dirty="0">
                <a:solidFill>
                  <a:schemeClr val="tx1"/>
                </a:solidFill>
              </a:rPr>
              <a:t>Runtime → Run all, about 5 minutes. No web frontend: the notebook and the Spark UI show everything the marks ask for.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Loading and cleaning the data</a:t>
            </a:r>
            <a:endParaRPr lang="en-US" sz="3600" dirty="0"/>
          </a:p>
        </p:txBody>
      </p:sp>
      <p:sp>
        <p:nvSpPr>
          <p:cNvPr id="3" name="load-0-circle"/>
          <p:cNvSpPr/>
          <p:nvPr/>
        </p:nvSpPr>
        <p:spPr>
          <a:xfrm>
            <a:off x="548640" y="1371600"/>
            <a:ext cx="594360" cy="594360"/>
          </a:xfrm>
          <a:prstGeom prst="ellipse">
            <a:avLst/>
          </a:prstGeom>
          <a:solidFill>
            <a:schemeClr val="tx2"/>
          </a:solidFill>
          <a:ln/>
        </p:spPr>
      </p:sp>
      <p:pic>
        <p:nvPicPr>
          <p:cNvPr id="4" name="load-0-icon" descr="Database icon">    </p:cNvPr>
          <p:cNvPicPr>
            <a:picLocks noChangeAspect="1"/>
          </p:cNvPicPr>
          <p:nvPr/>
        </p:nvPicPr>
        <p:blipFill>
          <a:blip r:embed="rId1"/>
          <a:stretch>
            <a:fillRect/>
          </a:stretch>
        </p:blipFill>
        <p:spPr>
          <a:xfrm>
            <a:off x="697230" y="1520190"/>
            <a:ext cx="297180" cy="297180"/>
          </a:xfrm>
          <a:prstGeom prst="rect">
            <a:avLst/>
          </a:prstGeom>
        </p:spPr>
      </p:pic>
      <p:sp>
        <p:nvSpPr>
          <p:cNvPr id="5" name="load-text-0"/>
          <p:cNvSpPr txBox="1"/>
          <p:nvPr/>
        </p:nvSpPr>
        <p:spPr>
          <a:xfrm>
            <a:off x="1371600" y="1325880"/>
            <a:ext cx="4617720" cy="868680"/>
          </a:xfrm>
          <a:prstGeom prst="rect">
            <a:avLst/>
          </a:prstGeom>
          <a:noFill/>
          <a:ln/>
        </p:spPr>
        <p:txBody>
          <a:bodyPr wrap="square" lIns="0" tIns="0" rIns="0" bIns="0" rtlCol="0" anchor="t"/>
          <a:lstStyle/>
          <a:p>
            <a:pPr indent="0" marL="0">
              <a:buNone/>
            </a:pPr>
            <a:r>
              <a:rPr lang="en-US" sz="1500" b="1" dirty="0">
                <a:solidFill>
                  <a:schemeClr val="tx1"/>
                </a:solidFill>
              </a:rPr>
              <a:t>Parquet</a:t>
            </a:r>
            <a:endParaRPr lang="en-US" sz="1500" dirty="0"/>
          </a:p>
          <a:p>
            <a:pPr indent="0" marL="0">
              <a:buNone/>
            </a:pPr>
            <a:r>
              <a:rPr lang="en-US" sz="1300" dirty="0">
                <a:solidFill>
                  <a:schemeClr val="accent4"/>
                </a:solidFill>
              </a:rPr>
              <a:t>schema stored inside the file; Spark reads only the columns it needs</a:t>
            </a:r>
            <a:endParaRPr lang="en-US" sz="1500" dirty="0"/>
          </a:p>
        </p:txBody>
      </p:sp>
      <p:sp>
        <p:nvSpPr>
          <p:cNvPr id="6" name="load-1-circle"/>
          <p:cNvSpPr/>
          <p:nvPr/>
        </p:nvSpPr>
        <p:spPr>
          <a:xfrm>
            <a:off x="548640" y="2350008"/>
            <a:ext cx="594360" cy="594360"/>
          </a:xfrm>
          <a:prstGeom prst="ellipse">
            <a:avLst/>
          </a:prstGeom>
          <a:solidFill>
            <a:schemeClr val="accent2"/>
          </a:solidFill>
          <a:ln/>
        </p:spPr>
      </p:sp>
      <p:pic>
        <p:nvPicPr>
          <p:cNvPr id="7" name="load-1-icon" descr="Table icon">    </p:cNvPr>
          <p:cNvPicPr>
            <a:picLocks noChangeAspect="1"/>
          </p:cNvPicPr>
          <p:nvPr/>
        </p:nvPicPr>
        <p:blipFill>
          <a:blip r:embed="rId2"/>
          <a:stretch>
            <a:fillRect/>
          </a:stretch>
        </p:blipFill>
        <p:spPr>
          <a:xfrm>
            <a:off x="697230" y="2498598"/>
            <a:ext cx="297180" cy="297180"/>
          </a:xfrm>
          <a:prstGeom prst="rect">
            <a:avLst/>
          </a:prstGeom>
        </p:spPr>
      </p:pic>
      <p:sp>
        <p:nvSpPr>
          <p:cNvPr id="8" name="load-text-1"/>
          <p:cNvSpPr txBox="1"/>
          <p:nvPr/>
        </p:nvSpPr>
        <p:spPr>
          <a:xfrm>
            <a:off x="1371600" y="2304288"/>
            <a:ext cx="4617720" cy="868680"/>
          </a:xfrm>
          <a:prstGeom prst="rect">
            <a:avLst/>
          </a:prstGeom>
          <a:noFill/>
          <a:ln/>
        </p:spPr>
        <p:txBody>
          <a:bodyPr wrap="square" lIns="0" tIns="0" rIns="0" bIns="0" rtlCol="0" anchor="t"/>
          <a:lstStyle/>
          <a:p>
            <a:pPr indent="0" marL="0">
              <a:buNone/>
            </a:pPr>
            <a:r>
              <a:rPr lang="en-US" sz="1500" b="1" dirty="0">
                <a:solidFill>
                  <a:schemeClr val="tx1"/>
                </a:solidFill>
              </a:rPr>
              <a:t>CSV with our own schema</a:t>
            </a:r>
            <a:endParaRPr lang="en-US" sz="1500" dirty="0"/>
          </a:p>
          <a:p>
            <a:pPr indent="0" marL="0">
              <a:buNone/>
            </a:pPr>
            <a:r>
              <a:rPr lang="en-US" sz="1300" dirty="0">
                <a:solidFill>
                  <a:schemeClr val="accent4"/>
                </a:solidFill>
              </a:rPr>
              <a:t>StructType instead of inferSchema: no extra pass, no wrong guesses</a:t>
            </a:r>
            <a:endParaRPr lang="en-US" sz="1500" dirty="0"/>
          </a:p>
        </p:txBody>
      </p:sp>
      <p:sp>
        <p:nvSpPr>
          <p:cNvPr id="9" name="load-2-circle"/>
          <p:cNvSpPr/>
          <p:nvPr/>
        </p:nvSpPr>
        <p:spPr>
          <a:xfrm>
            <a:off x="548640" y="3328416"/>
            <a:ext cx="594360" cy="594360"/>
          </a:xfrm>
          <a:prstGeom prst="ellipse">
            <a:avLst/>
          </a:prstGeom>
          <a:solidFill>
            <a:schemeClr val="accent1"/>
          </a:solidFill>
          <a:ln/>
        </p:spPr>
      </p:sp>
      <p:pic>
        <p:nvPicPr>
          <p:cNvPr id="10" name="load-2-icon" descr="LayerGroup icon">    </p:cNvPr>
          <p:cNvPicPr>
            <a:picLocks noChangeAspect="1"/>
          </p:cNvPicPr>
          <p:nvPr/>
        </p:nvPicPr>
        <p:blipFill>
          <a:blip r:embed="rId3"/>
          <a:stretch>
            <a:fillRect/>
          </a:stretch>
        </p:blipFill>
        <p:spPr>
          <a:xfrm>
            <a:off x="697230" y="3477006"/>
            <a:ext cx="297180" cy="297180"/>
          </a:xfrm>
          <a:prstGeom prst="rect">
            <a:avLst/>
          </a:prstGeom>
        </p:spPr>
      </p:pic>
      <p:sp>
        <p:nvSpPr>
          <p:cNvPr id="11" name="load-text-2"/>
          <p:cNvSpPr txBox="1"/>
          <p:nvPr/>
        </p:nvSpPr>
        <p:spPr>
          <a:xfrm>
            <a:off x="1371600" y="3282696"/>
            <a:ext cx="4617720" cy="868680"/>
          </a:xfrm>
          <a:prstGeom prst="rect">
            <a:avLst/>
          </a:prstGeom>
          <a:noFill/>
          <a:ln/>
        </p:spPr>
        <p:txBody>
          <a:bodyPr wrap="square" lIns="0" tIns="0" rIns="0" bIns="0" rtlCol="0" anchor="t"/>
          <a:lstStyle/>
          <a:p>
            <a:pPr indent="0" marL="0">
              <a:buNone/>
            </a:pPr>
            <a:r>
              <a:rPr lang="en-US" sz="1500" b="1" dirty="0">
                <a:solidFill>
                  <a:schemeClr val="tx1"/>
                </a:solidFill>
              </a:rPr>
              <a:t>Nested API JSON</a:t>
            </a:r>
            <a:endParaRPr lang="en-US" sz="1500" dirty="0"/>
          </a:p>
          <a:p>
            <a:pPr indent="0" marL="0">
              <a:buNone/>
            </a:pPr>
            <a:r>
              <a:rPr lang="en-US" sz="1300" dirty="0">
                <a:solidFill>
                  <a:schemeClr val="accent4"/>
                </a:solidFill>
              </a:rPr>
              <a:t>arrays_zip + explode turn parallel lists into one row per hour</a:t>
            </a:r>
            <a:endParaRPr lang="en-US" sz="1500" dirty="0"/>
          </a:p>
        </p:txBody>
      </p:sp>
      <p:sp>
        <p:nvSpPr>
          <p:cNvPr id="12" name="load-3-circle"/>
          <p:cNvSpPr/>
          <p:nvPr/>
        </p:nvSpPr>
        <p:spPr>
          <a:xfrm>
            <a:off x="548640" y="4306824"/>
            <a:ext cx="594360" cy="594360"/>
          </a:xfrm>
          <a:prstGeom prst="ellipse">
            <a:avLst/>
          </a:prstGeom>
          <a:solidFill>
            <a:schemeClr val="accent4"/>
          </a:solidFill>
          <a:ln/>
        </p:spPr>
      </p:sp>
      <p:pic>
        <p:nvPicPr>
          <p:cNvPr id="13" name="load-3-icon" descr="Landmark icon">    </p:cNvPr>
          <p:cNvPicPr>
            <a:picLocks noChangeAspect="1"/>
          </p:cNvPicPr>
          <p:nvPr/>
        </p:nvPicPr>
        <p:blipFill>
          <a:blip r:embed="rId4"/>
          <a:stretch>
            <a:fillRect/>
          </a:stretch>
        </p:blipFill>
        <p:spPr>
          <a:xfrm>
            <a:off x="697230" y="4455414"/>
            <a:ext cx="297180" cy="297180"/>
          </a:xfrm>
          <a:prstGeom prst="rect">
            <a:avLst/>
          </a:prstGeom>
        </p:spPr>
      </p:pic>
      <p:sp>
        <p:nvSpPr>
          <p:cNvPr id="14" name="load-text-3"/>
          <p:cNvSpPr txBox="1"/>
          <p:nvPr/>
        </p:nvSpPr>
        <p:spPr>
          <a:xfrm>
            <a:off x="1371600" y="4261104"/>
            <a:ext cx="4617720" cy="868680"/>
          </a:xfrm>
          <a:prstGeom prst="rect">
            <a:avLst/>
          </a:prstGeom>
          <a:noFill/>
          <a:ln/>
        </p:spPr>
        <p:txBody>
          <a:bodyPr wrap="square" lIns="0" tIns="0" rIns="0" bIns="0" rtlCol="0" anchor="t"/>
          <a:lstStyle/>
          <a:p>
            <a:pPr indent="0" marL="0">
              <a:buNone/>
            </a:pPr>
            <a:r>
              <a:rPr lang="en-US" sz="1500" b="1" dirty="0">
                <a:solidFill>
                  <a:schemeClr val="tx1"/>
                </a:solidFill>
              </a:rPr>
              <a:t>311 complaints</a:t>
            </a:r>
            <a:endParaRPr lang="en-US" sz="1500" dirty="0"/>
          </a:p>
          <a:p>
            <a:pPr indent="0" marL="0">
              <a:buNone/>
            </a:pPr>
            <a:r>
              <a:rPr lang="en-US" sz="1300" dirty="0">
                <a:solidFill>
                  <a:schemeClr val="accent4"/>
                </a:solidFill>
              </a:rPr>
              <a:t>drop duplicates, safe date parsing (try_cast), hours to close</a:t>
            </a:r>
            <a:endParaRPr lang="en-US" sz="1500" dirty="0"/>
          </a:p>
        </p:txBody>
      </p:sp>
      <p:sp>
        <p:nvSpPr>
          <p:cNvPr id="15" name="load-4-circle"/>
          <p:cNvSpPr/>
          <p:nvPr/>
        </p:nvSpPr>
        <p:spPr>
          <a:xfrm>
            <a:off x="548640" y="5285232"/>
            <a:ext cx="594360" cy="594360"/>
          </a:xfrm>
          <a:prstGeom prst="ellipse">
            <a:avLst/>
          </a:prstGeom>
          <a:solidFill>
            <a:schemeClr val="accent3"/>
          </a:solidFill>
          <a:ln/>
        </p:spPr>
      </p:sp>
      <p:pic>
        <p:nvPicPr>
          <p:cNvPr id="16" name="load-4-icon" descr="TrafficLight icon">    </p:cNvPr>
          <p:cNvPicPr>
            <a:picLocks noChangeAspect="1"/>
          </p:cNvPicPr>
          <p:nvPr/>
        </p:nvPicPr>
        <p:blipFill>
          <a:blip r:embed="rId5"/>
          <a:stretch>
            <a:fillRect/>
          </a:stretch>
        </p:blipFill>
        <p:spPr>
          <a:xfrm>
            <a:off x="697230" y="5433822"/>
            <a:ext cx="297180" cy="297180"/>
          </a:xfrm>
          <a:prstGeom prst="rect">
            <a:avLst/>
          </a:prstGeom>
        </p:spPr>
      </p:pic>
      <p:sp>
        <p:nvSpPr>
          <p:cNvPr id="17" name="load-text-4"/>
          <p:cNvSpPr txBox="1"/>
          <p:nvPr/>
        </p:nvSpPr>
        <p:spPr>
          <a:xfrm>
            <a:off x="1371600" y="5239512"/>
            <a:ext cx="4617720" cy="868680"/>
          </a:xfrm>
          <a:prstGeom prst="rect">
            <a:avLst/>
          </a:prstGeom>
          <a:noFill/>
          <a:ln/>
        </p:spPr>
        <p:txBody>
          <a:bodyPr wrap="square" lIns="0" tIns="0" rIns="0" bIns="0" rtlCol="0" anchor="t"/>
          <a:lstStyle/>
          <a:p>
            <a:pPr indent="0" marL="0">
              <a:buNone/>
            </a:pPr>
            <a:r>
              <a:rPr lang="en-US" sz="1500" b="1" dirty="0">
                <a:solidFill>
                  <a:schemeClr val="tx1"/>
                </a:solidFill>
              </a:rPr>
              <a:t>Live traffic</a:t>
            </a:r>
            <a:endParaRPr lang="en-US" sz="1500" dirty="0"/>
          </a:p>
          <a:p>
            <a:pPr indent="0" marL="0">
              <a:buNone/>
            </a:pPr>
            <a:r>
              <a:rPr lang="en-US" sz="1300" dirty="0">
                <a:solidFill>
                  <a:schemeClr val="accent4"/>
                </a:solidFill>
              </a:rPr>
              <a:t>valid readings only; window function keeps the newest per road</a:t>
            </a:r>
            <a:endParaRPr lang="en-US" sz="1500" dirty="0"/>
          </a:p>
        </p:txBody>
      </p:sp>
      <p:sp>
        <p:nvSpPr>
          <p:cNvPr id="18" name="dq-card"/>
          <p:cNvSpPr/>
          <p:nvPr/>
        </p:nvSpPr>
        <p:spPr>
          <a:xfrm>
            <a:off x="6400800" y="1325880"/>
            <a:ext cx="5242255" cy="4846320"/>
          </a:xfrm>
          <a:prstGeom prst="roundRect">
            <a:avLst>
              <a:gd name="adj" fmla="val 2264"/>
            </a:avLst>
          </a:prstGeom>
          <a:solidFill>
            <a:schemeClr val="bg2"/>
          </a:solidFill>
          <a:ln/>
        </p:spPr>
      </p:sp>
      <p:sp>
        <p:nvSpPr>
          <p:cNvPr id="19" name="dq-stat"/>
          <p:cNvSpPr txBox="1"/>
          <p:nvPr/>
        </p:nvSpPr>
        <p:spPr>
          <a:xfrm>
            <a:off x="6675120" y="1508760"/>
            <a:ext cx="4693615" cy="914400"/>
          </a:xfrm>
          <a:prstGeom prst="rect">
            <a:avLst/>
          </a:prstGeom>
          <a:noFill/>
          <a:ln/>
        </p:spPr>
        <p:txBody>
          <a:bodyPr wrap="square" lIns="0" tIns="0" rIns="0" bIns="0" rtlCol="0" anchor="t"/>
          <a:lstStyle/>
          <a:p>
            <a:pPr indent="0" marL="0">
              <a:buNone/>
            </a:pPr>
            <a:r>
              <a:rPr lang="en-US" sz="2600" b="1" dirty="0">
                <a:solidFill>
                  <a:schemeClr val="tx2"/>
                </a:solidFill>
              </a:rPr>
              <a:t>2,964,624 → 2,828,365</a:t>
            </a:r>
            <a:endParaRPr lang="en-US" sz="1400" dirty="0"/>
          </a:p>
          <a:p>
            <a:pPr indent="0" marL="0">
              <a:buNone/>
            </a:pPr>
            <a:r>
              <a:rPr lang="en-US" sz="1400" dirty="0">
                <a:solidFill>
                  <a:schemeClr val="accent4"/>
                </a:solidFill>
              </a:rPr>
              <a:t>clean taxi trips after 6 quality rules (4.6% removed)</a:t>
            </a:r>
            <a:endParaRPr lang="en-US" sz="1400" dirty="0"/>
          </a:p>
        </p:txBody>
      </p:sp>
      <p:graphicFrame>
        <p:nvGraphicFramePr>
          <p:cNvPr id="20" name="dq-chart" descr=""/>
          <p:cNvGraphicFramePr/>
          <p:nvPr/>
        </p:nvGraphicFramePr>
        <p:xfrm>
          <a:off x="6537960" y="2514600"/>
          <a:ext cx="4967935" cy="3566160"/>
        </p:xfrm>
        <a:graphic xmlns:a="http://schemas.openxmlformats.org/drawingml/2006/main">
          <a:graphicData uri="http://schemas.openxmlformats.org/drawingml/2006/chart">
            <c:chart xmlns:c="http://schemas.openxmlformats.org/drawingml/2006/chart" r:id="rId6"/>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10 questions a city team would ask</a:t>
            </a:r>
            <a:endParaRPr lang="en-US" sz="3600" dirty="0"/>
          </a:p>
        </p:txBody>
      </p:sp>
      <p:sp>
        <p:nvSpPr>
          <p:cNvPr id="3" name="q-card-0"/>
          <p:cNvSpPr/>
          <p:nvPr/>
        </p:nvSpPr>
        <p:spPr>
          <a:xfrm>
            <a:off x="548640" y="1325880"/>
            <a:ext cx="2602154" cy="3749040"/>
          </a:xfrm>
          <a:prstGeom prst="roundRect">
            <a:avLst>
              <a:gd name="adj" fmla="val 4217"/>
            </a:avLst>
          </a:prstGeom>
          <a:solidFill>
            <a:schemeClr val="bg2"/>
          </a:solidFill>
          <a:ln/>
        </p:spPr>
      </p:sp>
      <p:sp>
        <p:nvSpPr>
          <p:cNvPr id="4" name="q-0-circle"/>
          <p:cNvSpPr/>
          <p:nvPr/>
        </p:nvSpPr>
        <p:spPr>
          <a:xfrm>
            <a:off x="777240" y="1508760"/>
            <a:ext cx="594360" cy="594360"/>
          </a:xfrm>
          <a:prstGeom prst="ellipse">
            <a:avLst/>
          </a:prstGeom>
          <a:solidFill>
            <a:schemeClr val="accent1"/>
          </a:solidFill>
          <a:ln/>
        </p:spPr>
      </p:sp>
      <p:pic>
        <p:nvPicPr>
          <p:cNvPr id="5" name="q-0-icon" descr="Taxi icon">    </p:cNvPr>
          <p:cNvPicPr>
            <a:picLocks noChangeAspect="1"/>
          </p:cNvPicPr>
          <p:nvPr/>
        </p:nvPicPr>
        <p:blipFill>
          <a:blip r:embed="rId1"/>
          <a:stretch>
            <a:fillRect/>
          </a:stretch>
        </p:blipFill>
        <p:spPr>
          <a:xfrm>
            <a:off x="925830" y="1657350"/>
            <a:ext cx="297180" cy="297180"/>
          </a:xfrm>
          <a:prstGeom prst="rect">
            <a:avLst/>
          </a:prstGeom>
        </p:spPr>
      </p:pic>
      <p:sp>
        <p:nvSpPr>
          <p:cNvPr id="6" name="q-head-0"/>
          <p:cNvSpPr txBox="1"/>
          <p:nvPr/>
        </p:nvSpPr>
        <p:spPr>
          <a:xfrm>
            <a:off x="1508760" y="1600200"/>
            <a:ext cx="1504874" cy="411480"/>
          </a:xfrm>
          <a:prstGeom prst="rect">
            <a:avLst/>
          </a:prstGeom>
          <a:noFill/>
          <a:ln/>
        </p:spPr>
        <p:txBody>
          <a:bodyPr wrap="square" lIns="0" tIns="0" rIns="0" bIns="0" rtlCol="0" anchor="t"/>
          <a:lstStyle/>
          <a:p>
            <a:pPr indent="0" marL="0">
              <a:buNone/>
            </a:pPr>
            <a:r>
              <a:rPr lang="en-US" sz="1700" b="1" dirty="0">
                <a:solidFill>
                  <a:schemeClr val="tx1"/>
                </a:solidFill>
              </a:rPr>
              <a:t>Mobility</a:t>
            </a:r>
            <a:endParaRPr lang="en-US" sz="1700" dirty="0"/>
          </a:p>
        </p:txBody>
      </p:sp>
      <p:sp>
        <p:nvSpPr>
          <p:cNvPr id="7" name="q-0-0"/>
          <p:cNvSpPr txBox="1"/>
          <p:nvPr/>
        </p:nvSpPr>
        <p:spPr>
          <a:xfrm>
            <a:off x="777240" y="233172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Q1  </a:t>
            </a:r>
            <a:pPr indent="0" marL="0">
              <a:buNone/>
            </a:pPr>
            <a:r>
              <a:rPr lang="en-US" sz="1400" b="1" dirty="0">
                <a:solidFill>
                  <a:schemeClr val="tx1"/>
                </a:solidFill>
              </a:rPr>
              <a:t>When do people take taxis?</a:t>
            </a:r>
            <a:endParaRPr lang="en-US" sz="1400" dirty="0"/>
          </a:p>
          <a:p>
            <a:pPr indent="0" marL="0">
              <a:buNone/>
            </a:pPr>
            <a:r>
              <a:rPr lang="en-US" sz="1200" i="1" dirty="0">
                <a:solidFill>
                  <a:schemeClr val="accent4"/>
                </a:solidFill>
              </a:rPr>
              <a:t>groupBy, agg, Spark SQL</a:t>
            </a:r>
            <a:endParaRPr lang="en-US" sz="1400" dirty="0"/>
          </a:p>
        </p:txBody>
      </p:sp>
      <p:sp>
        <p:nvSpPr>
          <p:cNvPr id="8" name="q-0-1"/>
          <p:cNvSpPr txBox="1"/>
          <p:nvPr/>
        </p:nvSpPr>
        <p:spPr>
          <a:xfrm>
            <a:off x="777240" y="329184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Q2  </a:t>
            </a:r>
            <a:pPr indent="0" marL="0">
              <a:buNone/>
            </a:pPr>
            <a:r>
              <a:rPr lang="en-US" sz="1400" b="1" dirty="0">
                <a:solidFill>
                  <a:schemeClr val="tx1"/>
                </a:solidFill>
              </a:rPr>
              <a:t>Busiest pickup hubs</a:t>
            </a:r>
            <a:endParaRPr lang="en-US" sz="1400" dirty="0"/>
          </a:p>
          <a:p>
            <a:pPr indent="0" marL="0">
              <a:buNone/>
            </a:pPr>
            <a:r>
              <a:rPr lang="en-US" sz="1200" i="1" dirty="0">
                <a:solidFill>
                  <a:schemeClr val="accent4"/>
                </a:solidFill>
              </a:rPr>
              <a:t>join, orderBy, limit</a:t>
            </a:r>
            <a:endParaRPr lang="en-US" sz="1400" dirty="0"/>
          </a:p>
        </p:txBody>
      </p:sp>
      <p:sp>
        <p:nvSpPr>
          <p:cNvPr id="9" name="q-0-2"/>
          <p:cNvSpPr txBox="1"/>
          <p:nvPr/>
        </p:nvSpPr>
        <p:spPr>
          <a:xfrm>
            <a:off x="777240" y="425196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Q3  </a:t>
            </a:r>
            <a:pPr indent="0" marL="0">
              <a:buNone/>
            </a:pPr>
            <a:r>
              <a:rPr lang="en-US" sz="1400" b="1" dirty="0">
                <a:solidFill>
                  <a:schemeClr val="tx1"/>
                </a:solidFill>
              </a:rPr>
              <a:t>A typical week</a:t>
            </a:r>
            <a:endParaRPr lang="en-US" sz="1400" dirty="0"/>
          </a:p>
          <a:p>
            <a:pPr indent="0" marL="0">
              <a:buNone/>
            </a:pPr>
            <a:r>
              <a:rPr lang="en-US" sz="1200" i="1" dirty="0">
                <a:solidFill>
                  <a:schemeClr val="accent4"/>
                </a:solidFill>
              </a:rPr>
              <a:t>pivot → heatmap</a:t>
            </a:r>
            <a:endParaRPr lang="en-US" sz="1400" dirty="0"/>
          </a:p>
        </p:txBody>
      </p:sp>
      <p:sp>
        <p:nvSpPr>
          <p:cNvPr id="10" name="q-card-1"/>
          <p:cNvSpPr/>
          <p:nvPr/>
        </p:nvSpPr>
        <p:spPr>
          <a:xfrm>
            <a:off x="3379394" y="1325880"/>
            <a:ext cx="2602154" cy="3749040"/>
          </a:xfrm>
          <a:prstGeom prst="roundRect">
            <a:avLst>
              <a:gd name="adj" fmla="val 4217"/>
            </a:avLst>
          </a:prstGeom>
          <a:solidFill>
            <a:schemeClr val="bg2"/>
          </a:solidFill>
          <a:ln/>
        </p:spPr>
      </p:sp>
      <p:sp>
        <p:nvSpPr>
          <p:cNvPr id="11" name="q-1-circle"/>
          <p:cNvSpPr/>
          <p:nvPr/>
        </p:nvSpPr>
        <p:spPr>
          <a:xfrm>
            <a:off x="3607994" y="1508760"/>
            <a:ext cx="594360" cy="594360"/>
          </a:xfrm>
          <a:prstGeom prst="ellipse">
            <a:avLst/>
          </a:prstGeom>
          <a:solidFill>
            <a:schemeClr val="accent2"/>
          </a:solidFill>
          <a:ln/>
        </p:spPr>
      </p:sp>
      <p:pic>
        <p:nvPicPr>
          <p:cNvPr id="12" name="q-1-icon" descr="Landmark icon">    </p:cNvPr>
          <p:cNvPicPr>
            <a:picLocks noChangeAspect="1"/>
          </p:cNvPicPr>
          <p:nvPr/>
        </p:nvPicPr>
        <p:blipFill>
          <a:blip r:embed="rId2"/>
          <a:stretch>
            <a:fillRect/>
          </a:stretch>
        </p:blipFill>
        <p:spPr>
          <a:xfrm>
            <a:off x="3756584" y="1657350"/>
            <a:ext cx="297180" cy="297180"/>
          </a:xfrm>
          <a:prstGeom prst="rect">
            <a:avLst/>
          </a:prstGeom>
        </p:spPr>
      </p:pic>
      <p:sp>
        <p:nvSpPr>
          <p:cNvPr id="13" name="q-head-1"/>
          <p:cNvSpPr txBox="1"/>
          <p:nvPr/>
        </p:nvSpPr>
        <p:spPr>
          <a:xfrm>
            <a:off x="4339514" y="1600200"/>
            <a:ext cx="1504874" cy="411480"/>
          </a:xfrm>
          <a:prstGeom prst="rect">
            <a:avLst/>
          </a:prstGeom>
          <a:noFill/>
          <a:ln/>
        </p:spPr>
        <p:txBody>
          <a:bodyPr wrap="square" lIns="0" tIns="0" rIns="0" bIns="0" rtlCol="0" anchor="t"/>
          <a:lstStyle/>
          <a:p>
            <a:pPr indent="0" marL="0">
              <a:buNone/>
            </a:pPr>
            <a:r>
              <a:rPr lang="en-US" sz="1700" b="1" dirty="0">
                <a:solidFill>
                  <a:schemeClr val="tx1"/>
                </a:solidFill>
              </a:rPr>
              <a:t>Citizen services</a:t>
            </a:r>
            <a:endParaRPr lang="en-US" sz="1700" dirty="0"/>
          </a:p>
        </p:txBody>
      </p:sp>
      <p:sp>
        <p:nvSpPr>
          <p:cNvPr id="14" name="q-1-0"/>
          <p:cNvSpPr txBox="1"/>
          <p:nvPr/>
        </p:nvSpPr>
        <p:spPr>
          <a:xfrm>
            <a:off x="3607994" y="233172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Q4  </a:t>
            </a:r>
            <a:pPr indent="0" marL="0">
              <a:buNone/>
            </a:pPr>
            <a:r>
              <a:rPr lang="en-US" sz="1400" b="1" dirty="0">
                <a:solidFill>
                  <a:schemeClr val="tx1"/>
                </a:solidFill>
              </a:rPr>
              <a:t>Top complaints</a:t>
            </a:r>
            <a:endParaRPr lang="en-US" sz="1400" dirty="0"/>
          </a:p>
          <a:p>
            <a:pPr indent="0" marL="0">
              <a:buNone/>
            </a:pPr>
            <a:r>
              <a:rPr lang="en-US" sz="1200" i="1" dirty="0">
                <a:solidFill>
                  <a:schemeClr val="accent4"/>
                </a:solidFill>
              </a:rPr>
              <a:t>groupBy, window share %</a:t>
            </a:r>
            <a:endParaRPr lang="en-US" sz="1400" dirty="0"/>
          </a:p>
        </p:txBody>
      </p:sp>
      <p:sp>
        <p:nvSpPr>
          <p:cNvPr id="15" name="q-1-1"/>
          <p:cNvSpPr txBox="1"/>
          <p:nvPr/>
        </p:nvSpPr>
        <p:spPr>
          <a:xfrm>
            <a:off x="3607994" y="329184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Q5  </a:t>
            </a:r>
            <a:pPr indent="0" marL="0">
              <a:buNone/>
            </a:pPr>
            <a:r>
              <a:rPr lang="en-US" sz="1400" b="1" dirty="0">
                <a:solidFill>
                  <a:schemeClr val="tx1"/>
                </a:solidFill>
              </a:rPr>
              <a:t>How fast departments respond</a:t>
            </a:r>
            <a:endParaRPr lang="en-US" sz="1400" dirty="0"/>
          </a:p>
          <a:p>
            <a:pPr indent="0" marL="0">
              <a:buNone/>
            </a:pPr>
            <a:r>
              <a:rPr lang="en-US" sz="1200" i="1" dirty="0">
                <a:solidFill>
                  <a:schemeClr val="accent4"/>
                </a:solidFill>
              </a:rPr>
              <a:t>median (percentile_approx)</a:t>
            </a:r>
            <a:endParaRPr lang="en-US" sz="1400" dirty="0"/>
          </a:p>
        </p:txBody>
      </p:sp>
      <p:sp>
        <p:nvSpPr>
          <p:cNvPr id="16" name="q-1-2"/>
          <p:cNvSpPr txBox="1"/>
          <p:nvPr/>
        </p:nvSpPr>
        <p:spPr>
          <a:xfrm>
            <a:off x="3607994" y="425196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Q6  </a:t>
            </a:r>
            <a:pPr indent="0" marL="0">
              <a:buNone/>
            </a:pPr>
            <a:r>
              <a:rPr lang="en-US" sz="1400" b="1" dirty="0">
                <a:solidFill>
                  <a:schemeClr val="tx1"/>
                </a:solidFill>
              </a:rPr>
              <a:t>Top 3 problems per borough</a:t>
            </a:r>
            <a:endParaRPr lang="en-US" sz="1400" dirty="0"/>
          </a:p>
          <a:p>
            <a:pPr indent="0" marL="0">
              <a:buNone/>
            </a:pPr>
            <a:r>
              <a:rPr lang="en-US" sz="1200" i="1" dirty="0">
                <a:solidFill>
                  <a:schemeClr val="accent4"/>
                </a:solidFill>
              </a:rPr>
              <a:t>window dense_rank</a:t>
            </a:r>
            <a:endParaRPr lang="en-US" sz="1400" dirty="0"/>
          </a:p>
        </p:txBody>
      </p:sp>
      <p:sp>
        <p:nvSpPr>
          <p:cNvPr id="17" name="q-card-2"/>
          <p:cNvSpPr/>
          <p:nvPr/>
        </p:nvSpPr>
        <p:spPr>
          <a:xfrm>
            <a:off x="6210148" y="1325880"/>
            <a:ext cx="2602154" cy="3749040"/>
          </a:xfrm>
          <a:prstGeom prst="roundRect">
            <a:avLst>
              <a:gd name="adj" fmla="val 4217"/>
            </a:avLst>
          </a:prstGeom>
          <a:solidFill>
            <a:schemeClr val="bg2"/>
          </a:solidFill>
          <a:ln/>
        </p:spPr>
      </p:sp>
      <p:sp>
        <p:nvSpPr>
          <p:cNvPr id="18" name="q-2-circle"/>
          <p:cNvSpPr/>
          <p:nvPr/>
        </p:nvSpPr>
        <p:spPr>
          <a:xfrm>
            <a:off x="6438748" y="1508760"/>
            <a:ext cx="594360" cy="594360"/>
          </a:xfrm>
          <a:prstGeom prst="ellipse">
            <a:avLst/>
          </a:prstGeom>
          <a:solidFill>
            <a:schemeClr val="accent4"/>
          </a:solidFill>
          <a:ln/>
        </p:spPr>
      </p:sp>
      <p:pic>
        <p:nvPicPr>
          <p:cNvPr id="19" name="q-2-icon" descr="Smog icon">    </p:cNvPr>
          <p:cNvPicPr>
            <a:picLocks noChangeAspect="1"/>
          </p:cNvPicPr>
          <p:nvPr/>
        </p:nvPicPr>
        <p:blipFill>
          <a:blip r:embed="rId3"/>
          <a:stretch>
            <a:fillRect/>
          </a:stretch>
        </p:blipFill>
        <p:spPr>
          <a:xfrm>
            <a:off x="6587338" y="1657350"/>
            <a:ext cx="297180" cy="297180"/>
          </a:xfrm>
          <a:prstGeom prst="rect">
            <a:avLst/>
          </a:prstGeom>
        </p:spPr>
      </p:pic>
      <p:sp>
        <p:nvSpPr>
          <p:cNvPr id="20" name="q-head-2"/>
          <p:cNvSpPr txBox="1"/>
          <p:nvPr/>
        </p:nvSpPr>
        <p:spPr>
          <a:xfrm>
            <a:off x="7170268" y="1600200"/>
            <a:ext cx="1504874" cy="411480"/>
          </a:xfrm>
          <a:prstGeom prst="rect">
            <a:avLst/>
          </a:prstGeom>
          <a:noFill/>
          <a:ln/>
        </p:spPr>
        <p:txBody>
          <a:bodyPr wrap="square" lIns="0" tIns="0" rIns="0" bIns="0" rtlCol="0" anchor="t"/>
          <a:lstStyle/>
          <a:p>
            <a:pPr indent="0" marL="0">
              <a:buNone/>
            </a:pPr>
            <a:r>
              <a:rPr lang="en-US" sz="1700" b="1" dirty="0">
                <a:solidFill>
                  <a:schemeClr val="tx1"/>
                </a:solidFill>
              </a:rPr>
              <a:t>Environment</a:t>
            </a:r>
            <a:endParaRPr lang="en-US" sz="1700" dirty="0"/>
          </a:p>
        </p:txBody>
      </p:sp>
      <p:sp>
        <p:nvSpPr>
          <p:cNvPr id="21" name="q-2-0"/>
          <p:cNvSpPr txBox="1"/>
          <p:nvPr/>
        </p:nvSpPr>
        <p:spPr>
          <a:xfrm>
            <a:off x="6438748" y="233172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Q7  </a:t>
            </a:r>
            <a:pPr indent="0" marL="0">
              <a:buNone/>
            </a:pPr>
            <a:r>
              <a:rPr lang="en-US" sz="1400" b="1" dirty="0">
                <a:solidFill>
                  <a:schemeClr val="tx1"/>
                </a:solidFill>
              </a:rPr>
              <a:t>Busy traffic hours vs air pollution</a:t>
            </a:r>
            <a:endParaRPr lang="en-US" sz="1400" dirty="0"/>
          </a:p>
          <a:p>
            <a:pPr indent="0" marL="0">
              <a:buNone/>
            </a:pPr>
            <a:r>
              <a:rPr lang="en-US" sz="1200" i="1" dirty="0">
                <a:solidFill>
                  <a:schemeClr val="accent4"/>
                </a:solidFill>
              </a:rPr>
              <a:t>join on hour, corr</a:t>
            </a:r>
            <a:endParaRPr lang="en-US" sz="1400" dirty="0"/>
          </a:p>
        </p:txBody>
      </p:sp>
      <p:sp>
        <p:nvSpPr>
          <p:cNvPr id="22" name="q-2-1"/>
          <p:cNvSpPr txBox="1"/>
          <p:nvPr/>
        </p:nvSpPr>
        <p:spPr>
          <a:xfrm>
            <a:off x="6438748" y="329184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Q8  </a:t>
            </a:r>
            <a:pPr indent="0" marL="0">
              <a:buNone/>
            </a:pPr>
            <a:r>
              <a:rPr lang="en-US" sz="1400" b="1" dirty="0">
                <a:solidFill>
                  <a:schemeClr val="tx1"/>
                </a:solidFill>
              </a:rPr>
              <a:t>Cold days vs heating complaints</a:t>
            </a:r>
            <a:endParaRPr lang="en-US" sz="1400" dirty="0"/>
          </a:p>
          <a:p>
            <a:pPr indent="0" marL="0">
              <a:buNone/>
            </a:pPr>
            <a:r>
              <a:rPr lang="en-US" sz="1200" i="1" dirty="0">
                <a:solidFill>
                  <a:schemeClr val="accent4"/>
                </a:solidFill>
              </a:rPr>
              <a:t>join on date, corr</a:t>
            </a:r>
            <a:endParaRPr lang="en-US" sz="1400" dirty="0"/>
          </a:p>
        </p:txBody>
      </p:sp>
      <p:sp>
        <p:nvSpPr>
          <p:cNvPr id="23" name="q-card-3"/>
          <p:cNvSpPr/>
          <p:nvPr/>
        </p:nvSpPr>
        <p:spPr>
          <a:xfrm>
            <a:off x="9040901" y="1325880"/>
            <a:ext cx="2602154" cy="3749040"/>
          </a:xfrm>
          <a:prstGeom prst="roundRect">
            <a:avLst>
              <a:gd name="adj" fmla="val 4217"/>
            </a:avLst>
          </a:prstGeom>
          <a:solidFill>
            <a:schemeClr val="bg2"/>
          </a:solidFill>
          <a:ln/>
        </p:spPr>
      </p:sp>
      <p:sp>
        <p:nvSpPr>
          <p:cNvPr id="24" name="q-3-circle"/>
          <p:cNvSpPr/>
          <p:nvPr/>
        </p:nvSpPr>
        <p:spPr>
          <a:xfrm>
            <a:off x="9269501" y="1508760"/>
            <a:ext cx="594360" cy="594360"/>
          </a:xfrm>
          <a:prstGeom prst="ellipse">
            <a:avLst/>
          </a:prstGeom>
          <a:solidFill>
            <a:schemeClr val="accent3"/>
          </a:solidFill>
          <a:ln/>
        </p:spPr>
      </p:sp>
      <p:pic>
        <p:nvPicPr>
          <p:cNvPr id="25" name="q-3-icon" descr="TrafficLight icon">    </p:cNvPr>
          <p:cNvPicPr>
            <a:picLocks noChangeAspect="1"/>
          </p:cNvPicPr>
          <p:nvPr/>
        </p:nvPicPr>
        <p:blipFill>
          <a:blip r:embed="rId4"/>
          <a:stretch>
            <a:fillRect/>
          </a:stretch>
        </p:blipFill>
        <p:spPr>
          <a:xfrm>
            <a:off x="9418091" y="1657350"/>
            <a:ext cx="297180" cy="297180"/>
          </a:xfrm>
          <a:prstGeom prst="rect">
            <a:avLst/>
          </a:prstGeom>
        </p:spPr>
      </p:pic>
      <p:sp>
        <p:nvSpPr>
          <p:cNvPr id="26" name="q-head-3"/>
          <p:cNvSpPr txBox="1"/>
          <p:nvPr/>
        </p:nvSpPr>
        <p:spPr>
          <a:xfrm>
            <a:off x="10001021" y="1600200"/>
            <a:ext cx="1504874" cy="411480"/>
          </a:xfrm>
          <a:prstGeom prst="rect">
            <a:avLst/>
          </a:prstGeom>
          <a:noFill/>
          <a:ln/>
        </p:spPr>
        <p:txBody>
          <a:bodyPr wrap="square" lIns="0" tIns="0" rIns="0" bIns="0" rtlCol="0" anchor="t"/>
          <a:lstStyle/>
          <a:p>
            <a:pPr indent="0" marL="0">
              <a:buNone/>
            </a:pPr>
            <a:r>
              <a:rPr lang="en-US" sz="1700" b="1" dirty="0">
                <a:solidFill>
                  <a:schemeClr val="tx1"/>
                </a:solidFill>
              </a:rPr>
              <a:t>Live + combined</a:t>
            </a:r>
            <a:endParaRPr lang="en-US" sz="1700" dirty="0"/>
          </a:p>
        </p:txBody>
      </p:sp>
      <p:sp>
        <p:nvSpPr>
          <p:cNvPr id="27" name="q-3-0"/>
          <p:cNvSpPr txBox="1"/>
          <p:nvPr/>
        </p:nvSpPr>
        <p:spPr>
          <a:xfrm>
            <a:off x="9269501" y="233172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Q9  </a:t>
            </a:r>
            <a:pPr indent="0" marL="0">
              <a:buNone/>
            </a:pPr>
            <a:r>
              <a:rPr lang="en-US" sz="1400" b="1" dirty="0">
                <a:solidFill>
                  <a:schemeClr val="tx1"/>
                </a:solidFill>
              </a:rPr>
              <a:t>Road speeds right now</a:t>
            </a:r>
            <a:endParaRPr lang="en-US" sz="1400" dirty="0"/>
          </a:p>
          <a:p>
            <a:pPr indent="0" marL="0">
              <a:buNone/>
            </a:pPr>
            <a:r>
              <a:rPr lang="en-US" sz="1200" i="1" dirty="0">
                <a:solidFill>
                  <a:schemeClr val="accent4"/>
                </a:solidFill>
              </a:rPr>
              <a:t>latest readings, groupBy</a:t>
            </a:r>
            <a:endParaRPr lang="en-US" sz="1400" dirty="0"/>
          </a:p>
        </p:txBody>
      </p:sp>
      <p:sp>
        <p:nvSpPr>
          <p:cNvPr id="28" name="q-3-1"/>
          <p:cNvSpPr txBox="1"/>
          <p:nvPr/>
        </p:nvSpPr>
        <p:spPr>
          <a:xfrm>
            <a:off x="9269501" y="3291840"/>
            <a:ext cx="2190674" cy="868680"/>
          </a:xfrm>
          <a:prstGeom prst="rect">
            <a:avLst/>
          </a:prstGeom>
          <a:noFill/>
          <a:ln/>
        </p:spPr>
        <p:txBody>
          <a:bodyPr wrap="square" lIns="0" tIns="0" rIns="0" bIns="0" rtlCol="0" anchor="t"/>
          <a:lstStyle/>
          <a:p>
            <a:pPr indent="0" marL="0">
              <a:buNone/>
            </a:pPr>
            <a:r>
              <a:rPr lang="en-US" sz="1400" b="1" dirty="0">
                <a:solidFill>
                  <a:schemeClr val="tx2"/>
                </a:solidFill>
              </a:rPr>
              <a:t>Q10  </a:t>
            </a:r>
            <a:pPr indent="0" marL="0">
              <a:buNone/>
            </a:pPr>
            <a:r>
              <a:rPr lang="en-US" sz="1400" b="1" dirty="0">
                <a:solidFill>
                  <a:schemeClr val="tx1"/>
                </a:solidFill>
              </a:rPr>
              <a:t>Borough scorecard</a:t>
            </a:r>
            <a:endParaRPr lang="en-US" sz="1400" dirty="0"/>
          </a:p>
          <a:p>
            <a:pPr indent="0" marL="0">
              <a:buNone/>
            </a:pPr>
            <a:r>
              <a:rPr lang="en-US" sz="1200" i="1" dirty="0">
                <a:solidFill>
                  <a:schemeClr val="accent4"/>
                </a:solidFill>
              </a:rPr>
              <a:t>4 sources, left joins</a:t>
            </a:r>
            <a:endParaRPr lang="en-US" sz="1400" dirty="0"/>
          </a:p>
        </p:txBody>
      </p:sp>
      <p:sp>
        <p:nvSpPr>
          <p:cNvPr id="29" name="q-highlight"/>
          <p:cNvSpPr/>
          <p:nvPr/>
        </p:nvSpPr>
        <p:spPr>
          <a:xfrm>
            <a:off x="548640" y="5303520"/>
            <a:ext cx="11094415" cy="777240"/>
          </a:xfrm>
          <a:prstGeom prst="roundRect">
            <a:avLst>
              <a:gd name="adj" fmla="val 14118"/>
            </a:avLst>
          </a:prstGeom>
          <a:solidFill>
            <a:schemeClr val="tx1"/>
          </a:solidFill>
          <a:ln/>
        </p:spPr>
      </p:sp>
      <p:sp>
        <p:nvSpPr>
          <p:cNvPr id="30" name="q-highlight-text"/>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400" b="1" dirty="0">
                <a:solidFill>
                  <a:schemeClr val="accent1"/>
                </a:solidFill>
              </a:rPr>
              <a:t>From the real taxi data:  </a:t>
            </a:r>
            <a:pPr indent="0" marL="0">
              <a:buNone/>
            </a:pPr>
            <a:r>
              <a:rPr lang="en-US" sz="1400" dirty="0">
                <a:solidFill>
                  <a:schemeClr val="bg1"/>
                </a:solidFill>
              </a:rPr>
              <a:t>busiest hour 18:00 (203,555 trips in January) · busiest hub Midtown Center (138,307 pickups) · DataFrame and SQL versions of Q1 match exactly</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Five optimizations, each measured</a:t>
            </a:r>
            <a:endParaRPr lang="en-US" sz="3600" dirty="0"/>
          </a:p>
        </p:txBody>
      </p:sp>
      <p:graphicFrame>
        <p:nvGraphicFramePr>
          <p:cNvPr id="3" name="opt-chart" descr=""/>
          <p:cNvGraphicFramePr/>
          <p:nvPr/>
        </p:nvGraphicFramePr>
        <p:xfrm>
          <a:off x="548640" y="1280160"/>
          <a:ext cx="5577840" cy="4572000"/>
        </p:xfrm>
        <a:graphic xmlns:a="http://schemas.openxmlformats.org/drawingml/2006/main">
          <a:graphicData uri="http://schemas.openxmlformats.org/drawingml/2006/chart">
            <c:chart xmlns:c="http://schemas.openxmlformats.org/drawingml/2006/chart" r:id="rId1"/>
          </a:graphicData>
        </a:graphic>
      </p:graphicFrame>
      <p:sp>
        <p:nvSpPr>
          <p:cNvPr id="4" name="opt-x-0"/>
          <p:cNvSpPr txBox="1"/>
          <p:nvPr/>
        </p:nvSpPr>
        <p:spPr>
          <a:xfrm>
            <a:off x="6400800" y="1335024"/>
            <a:ext cx="1051560" cy="548640"/>
          </a:xfrm>
          <a:prstGeom prst="rect">
            <a:avLst/>
          </a:prstGeom>
          <a:noFill/>
          <a:ln/>
        </p:spPr>
        <p:txBody>
          <a:bodyPr wrap="square" lIns="0" tIns="0" rIns="0" bIns="0" rtlCol="0" anchor="t"/>
          <a:lstStyle/>
          <a:p>
            <a:pPr indent="0" marL="0">
              <a:buNone/>
            </a:pPr>
            <a:r>
              <a:rPr lang="en-US" sz="2600" b="1" dirty="0">
                <a:solidFill>
                  <a:schemeClr val="accent2"/>
                </a:solidFill>
              </a:rPr>
              <a:t>2.5x</a:t>
            </a:r>
            <a:endParaRPr lang="en-US" sz="2600" dirty="0"/>
          </a:p>
        </p:txBody>
      </p:sp>
      <p:sp>
        <p:nvSpPr>
          <p:cNvPr id="5" name="opt-text-0"/>
          <p:cNvSpPr txBox="1"/>
          <p:nvPr/>
        </p:nvSpPr>
        <p:spPr>
          <a:xfrm>
            <a:off x="7543800" y="1371600"/>
            <a:ext cx="4099255" cy="804672"/>
          </a:xfrm>
          <a:prstGeom prst="rect">
            <a:avLst/>
          </a:prstGeom>
          <a:noFill/>
          <a:ln/>
        </p:spPr>
        <p:txBody>
          <a:bodyPr wrap="square" lIns="0" tIns="0" rIns="0" bIns="0" rtlCol="0" anchor="t"/>
          <a:lstStyle/>
          <a:p>
            <a:pPr indent="0" marL="0">
              <a:buNone/>
            </a:pPr>
            <a:r>
              <a:rPr lang="en-US" sz="1500" b="1" dirty="0">
                <a:solidFill>
                  <a:schemeClr val="tx1"/>
                </a:solidFill>
              </a:rPr>
              <a:t>Cache</a:t>
            </a:r>
            <a:endParaRPr lang="en-US" sz="1500" dirty="0"/>
          </a:p>
          <a:p>
            <a:pPr indent="0" marL="0">
              <a:buNone/>
            </a:pPr>
            <a:r>
              <a:rPr lang="en-US" sz="1300" dirty="0">
                <a:solidFill>
                  <a:schemeClr val="accent4"/>
                </a:solidFill>
              </a:rPr>
              <a:t>keep the cleaned data in memory instead of re-reading and re-cleaning for every query</a:t>
            </a:r>
            <a:endParaRPr lang="en-US" sz="1500" dirty="0"/>
          </a:p>
        </p:txBody>
      </p:sp>
      <p:sp>
        <p:nvSpPr>
          <p:cNvPr id="6" name="opt-x-1"/>
          <p:cNvSpPr txBox="1"/>
          <p:nvPr/>
        </p:nvSpPr>
        <p:spPr>
          <a:xfrm>
            <a:off x="6400800" y="2231136"/>
            <a:ext cx="1051560" cy="548640"/>
          </a:xfrm>
          <a:prstGeom prst="rect">
            <a:avLst/>
          </a:prstGeom>
          <a:noFill/>
          <a:ln/>
        </p:spPr>
        <p:txBody>
          <a:bodyPr wrap="square" lIns="0" tIns="0" rIns="0" bIns="0" rtlCol="0" anchor="t"/>
          <a:lstStyle/>
          <a:p>
            <a:pPr indent="0" marL="0">
              <a:buNone/>
            </a:pPr>
            <a:r>
              <a:rPr lang="en-US" sz="2600" b="1" dirty="0">
                <a:solidFill>
                  <a:schemeClr val="accent2"/>
                </a:solidFill>
              </a:rPr>
              <a:t>2.2x</a:t>
            </a:r>
            <a:endParaRPr lang="en-US" sz="2600" dirty="0"/>
          </a:p>
        </p:txBody>
      </p:sp>
      <p:sp>
        <p:nvSpPr>
          <p:cNvPr id="7" name="opt-text-1"/>
          <p:cNvSpPr txBox="1"/>
          <p:nvPr/>
        </p:nvSpPr>
        <p:spPr>
          <a:xfrm>
            <a:off x="7543800" y="2267712"/>
            <a:ext cx="4099255" cy="804672"/>
          </a:xfrm>
          <a:prstGeom prst="rect">
            <a:avLst/>
          </a:prstGeom>
          <a:noFill/>
          <a:ln/>
        </p:spPr>
        <p:txBody>
          <a:bodyPr wrap="square" lIns="0" tIns="0" rIns="0" bIns="0" rtlCol="0" anchor="t"/>
          <a:lstStyle/>
          <a:p>
            <a:pPr indent="0" marL="0">
              <a:buNone/>
            </a:pPr>
            <a:r>
              <a:rPr lang="en-US" sz="1500" b="1" dirty="0">
                <a:solidFill>
                  <a:schemeClr val="tx1"/>
                </a:solidFill>
              </a:rPr>
              <a:t>Broadcast join</a:t>
            </a:r>
            <a:endParaRPr lang="en-US" sz="1500" dirty="0"/>
          </a:p>
          <a:p>
            <a:pPr indent="0" marL="0">
              <a:buNone/>
            </a:pPr>
            <a:r>
              <a:rPr lang="en-US" sz="1300" dirty="0">
                <a:solidFill>
                  <a:schemeClr val="accent4"/>
                </a:solidFill>
              </a:rPr>
              <a:t>copy the 265-row zone table to every task, so 3M trips are never shuffled</a:t>
            </a:r>
            <a:endParaRPr lang="en-US" sz="1500" dirty="0"/>
          </a:p>
        </p:txBody>
      </p:sp>
      <p:sp>
        <p:nvSpPr>
          <p:cNvPr id="8" name="opt-x-2"/>
          <p:cNvSpPr txBox="1"/>
          <p:nvPr/>
        </p:nvSpPr>
        <p:spPr>
          <a:xfrm>
            <a:off x="6400800" y="3127248"/>
            <a:ext cx="1051560" cy="548640"/>
          </a:xfrm>
          <a:prstGeom prst="rect">
            <a:avLst/>
          </a:prstGeom>
          <a:noFill/>
          <a:ln/>
        </p:spPr>
        <p:txBody>
          <a:bodyPr wrap="square" lIns="0" tIns="0" rIns="0" bIns="0" rtlCol="0" anchor="t"/>
          <a:lstStyle/>
          <a:p>
            <a:pPr indent="0" marL="0">
              <a:buNone/>
            </a:pPr>
            <a:r>
              <a:rPr lang="en-US" sz="2600" b="1" dirty="0">
                <a:solidFill>
                  <a:schemeClr val="accent2"/>
                </a:solidFill>
              </a:rPr>
              <a:t>4.4x</a:t>
            </a:r>
            <a:endParaRPr lang="en-US" sz="2600" dirty="0"/>
          </a:p>
        </p:txBody>
      </p:sp>
      <p:sp>
        <p:nvSpPr>
          <p:cNvPr id="9" name="opt-text-2"/>
          <p:cNvSpPr txBox="1"/>
          <p:nvPr/>
        </p:nvSpPr>
        <p:spPr>
          <a:xfrm>
            <a:off x="7543800" y="3163824"/>
            <a:ext cx="4099255" cy="804672"/>
          </a:xfrm>
          <a:prstGeom prst="rect">
            <a:avLst/>
          </a:prstGeom>
          <a:noFill/>
          <a:ln/>
        </p:spPr>
        <p:txBody>
          <a:bodyPr wrap="square" lIns="0" tIns="0" rIns="0" bIns="0" rtlCol="0" anchor="t"/>
          <a:lstStyle/>
          <a:p>
            <a:pPr indent="0" marL="0">
              <a:buNone/>
            </a:pPr>
            <a:r>
              <a:rPr lang="en-US" sz="1500" b="1" dirty="0">
                <a:solidFill>
                  <a:schemeClr val="tx1"/>
                </a:solidFill>
              </a:rPr>
              <a:t>Shuffle partitions</a:t>
            </a:r>
            <a:endParaRPr lang="en-US" sz="1500" dirty="0"/>
          </a:p>
          <a:p>
            <a:pPr indent="0" marL="0">
              <a:buNone/>
            </a:pPr>
            <a:r>
              <a:rPr lang="en-US" sz="1300" dirty="0">
                <a:solidFill>
                  <a:schemeClr val="accent4"/>
                </a:solidFill>
              </a:rPr>
              <a:t>8 right-sized partitions instead of the default 200 tiny ones</a:t>
            </a:r>
            <a:endParaRPr lang="en-US" sz="1500" dirty="0"/>
          </a:p>
        </p:txBody>
      </p:sp>
      <p:sp>
        <p:nvSpPr>
          <p:cNvPr id="10" name="opt-x-3"/>
          <p:cNvSpPr txBox="1"/>
          <p:nvPr/>
        </p:nvSpPr>
        <p:spPr>
          <a:xfrm>
            <a:off x="6400800" y="4023360"/>
            <a:ext cx="1051560" cy="548640"/>
          </a:xfrm>
          <a:prstGeom prst="rect">
            <a:avLst/>
          </a:prstGeom>
          <a:noFill/>
          <a:ln/>
        </p:spPr>
        <p:txBody>
          <a:bodyPr wrap="square" lIns="0" tIns="0" rIns="0" bIns="0" rtlCol="0" anchor="t"/>
          <a:lstStyle/>
          <a:p>
            <a:pPr indent="0" marL="0">
              <a:buNone/>
            </a:pPr>
            <a:r>
              <a:rPr lang="en-US" sz="2600" b="1" dirty="0">
                <a:solidFill>
                  <a:schemeClr val="accent2"/>
                </a:solidFill>
              </a:rPr>
              <a:t>2.8x</a:t>
            </a:r>
            <a:endParaRPr lang="en-US" sz="2600" dirty="0"/>
          </a:p>
        </p:txBody>
      </p:sp>
      <p:sp>
        <p:nvSpPr>
          <p:cNvPr id="11" name="opt-text-3"/>
          <p:cNvSpPr txBox="1"/>
          <p:nvPr/>
        </p:nvSpPr>
        <p:spPr>
          <a:xfrm>
            <a:off x="7543800" y="4059936"/>
            <a:ext cx="4099255" cy="804672"/>
          </a:xfrm>
          <a:prstGeom prst="rect">
            <a:avLst/>
          </a:prstGeom>
          <a:noFill/>
          <a:ln/>
        </p:spPr>
        <p:txBody>
          <a:bodyPr wrap="square" lIns="0" tIns="0" rIns="0" bIns="0" rtlCol="0" anchor="t"/>
          <a:lstStyle/>
          <a:p>
            <a:pPr indent="0" marL="0">
              <a:buNone/>
            </a:pPr>
            <a:r>
              <a:rPr lang="en-US" sz="1500" b="1" dirty="0">
                <a:solidFill>
                  <a:schemeClr val="tx1"/>
                </a:solidFill>
              </a:rPr>
              <a:t>Adaptive Query Execution</a:t>
            </a:r>
            <a:endParaRPr lang="en-US" sz="1500" dirty="0"/>
          </a:p>
          <a:p>
            <a:pPr indent="0" marL="0">
              <a:buNone/>
            </a:pPr>
            <a:r>
              <a:rPr lang="en-US" sz="1300" dirty="0">
                <a:solidFill>
                  <a:schemeClr val="accent4"/>
                </a:solidFill>
              </a:rPr>
              <a:t>Spark merges small partitions by itself while the query runs</a:t>
            </a:r>
            <a:endParaRPr lang="en-US" sz="1500" dirty="0"/>
          </a:p>
        </p:txBody>
      </p:sp>
      <p:sp>
        <p:nvSpPr>
          <p:cNvPr id="12" name="opt-x-4"/>
          <p:cNvSpPr txBox="1"/>
          <p:nvPr/>
        </p:nvSpPr>
        <p:spPr>
          <a:xfrm>
            <a:off x="6400800" y="4919472"/>
            <a:ext cx="1051560" cy="548640"/>
          </a:xfrm>
          <a:prstGeom prst="rect">
            <a:avLst/>
          </a:prstGeom>
          <a:noFill/>
          <a:ln/>
        </p:spPr>
        <p:txBody>
          <a:bodyPr wrap="square" lIns="0" tIns="0" rIns="0" bIns="0" rtlCol="0" anchor="t"/>
          <a:lstStyle/>
          <a:p>
            <a:pPr indent="0" marL="0">
              <a:buNone/>
            </a:pPr>
            <a:r>
              <a:rPr lang="en-US" sz="2600" b="1" dirty="0">
                <a:solidFill>
                  <a:schemeClr val="accent2"/>
                </a:solidFill>
              </a:rPr>
              <a:t>8.3x</a:t>
            </a:r>
            <a:endParaRPr lang="en-US" sz="2600" dirty="0"/>
          </a:p>
        </p:txBody>
      </p:sp>
      <p:sp>
        <p:nvSpPr>
          <p:cNvPr id="13" name="opt-text-4"/>
          <p:cNvSpPr txBox="1"/>
          <p:nvPr/>
        </p:nvSpPr>
        <p:spPr>
          <a:xfrm>
            <a:off x="7543800" y="4956048"/>
            <a:ext cx="4099255" cy="804672"/>
          </a:xfrm>
          <a:prstGeom prst="rect">
            <a:avLst/>
          </a:prstGeom>
          <a:noFill/>
          <a:ln/>
        </p:spPr>
        <p:txBody>
          <a:bodyPr wrap="square" lIns="0" tIns="0" rIns="0" bIns="0" rtlCol="0" anchor="t"/>
          <a:lstStyle/>
          <a:p>
            <a:pPr indent="0" marL="0">
              <a:buNone/>
            </a:pPr>
            <a:r>
              <a:rPr lang="en-US" sz="1500" b="1" dirty="0">
                <a:solidFill>
                  <a:schemeClr val="tx1"/>
                </a:solidFill>
              </a:rPr>
              <a:t>Parquet instead of CSV</a:t>
            </a:r>
            <a:endParaRPr lang="en-US" sz="1500" dirty="0"/>
          </a:p>
          <a:p>
            <a:pPr indent="0" marL="0">
              <a:buNone/>
            </a:pPr>
            <a:r>
              <a:rPr lang="en-US" sz="1300" dirty="0">
                <a:solidFill>
                  <a:schemeClr val="accent4"/>
                </a:solidFill>
              </a:rPr>
              <a:t>reads only the needed columns; 326 MB of CSV becomes 50 MB</a:t>
            </a:r>
            <a:endParaRPr lang="en-US" sz="1500" dirty="0"/>
          </a:p>
        </p:txBody>
      </p:sp>
      <p:sp>
        <p:nvSpPr>
          <p:cNvPr id="14" name="opt-footnote"/>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00" i="1" dirty="0">
                <a:solidFill>
                  <a:schemeClr val="accent4"/>
                </a:solidFill>
              </a:rPr>
              <a:t>Test run on 4 cores, timed with Spark's noop output. Colab has 2 cores, so its numbers differ, but the pattern holds.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Performance analysis</a:t>
            </a:r>
            <a:endParaRPr lang="en-US" sz="3600" dirty="0"/>
          </a:p>
        </p:txBody>
      </p:sp>
      <p:graphicFrame>
        <p:nvGraphicFramePr>
          <p:cNvPr id="3" name="pandas-chart" descr=""/>
          <p:cNvGraphicFramePr/>
          <p:nvPr/>
        </p:nvGraphicFramePr>
        <p:xfrm>
          <a:off x="548640" y="1280160"/>
          <a:ext cx="54406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ores-chart" descr=""/>
          <p:cNvGraphicFramePr/>
          <p:nvPr/>
        </p:nvGraphicFramePr>
        <p:xfrm>
          <a:off x="6309360" y="1280160"/>
          <a:ext cx="5330952" cy="3291840"/>
        </p:xfrm>
        <a:graphic xmlns:a="http://schemas.openxmlformats.org/drawingml/2006/main">
          <a:graphicData uri="http://schemas.openxmlformats.org/drawingml/2006/chart">
            <c:chart xmlns:c="http://schemas.openxmlformats.org/drawingml/2006/chart" r:id="rId2"/>
          </a:graphicData>
        </a:graphic>
      </p:graphicFrame>
      <p:sp>
        <p:nvSpPr>
          <p:cNvPr id="5" name="pandas-notes"/>
          <p:cNvSpPr txBox="1"/>
          <p:nvPr/>
        </p:nvSpPr>
        <p:spPr>
          <a:xfrm>
            <a:off x="548640" y="4754880"/>
            <a:ext cx="54406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Pandas wins on small data: Spark pays a fixed cost to plan and schedule tasks</a:t>
            </a:r>
            <a:endParaRPr lang="en-US" sz="1400" dirty="0"/>
          </a:p>
          <a:p>
            <a:pPr marL="342900" indent="-342900">
              <a:spcAft>
                <a:spcPts val="600"/>
              </a:spcAft>
              <a:buSzPct val="100000"/>
              <a:buChar char="•"/>
            </a:pPr>
            <a:r>
              <a:rPr lang="en-US" sz="1400" dirty="0">
                <a:solidFill>
                  <a:schemeClr val="tx1"/>
                </a:solidFill>
              </a:rPr>
              <a:t>Spark catches up as data grows; at ~3M rows the two are about even (it varies run to run)</a:t>
            </a:r>
            <a:endParaRPr lang="en-US" sz="1400" dirty="0"/>
          </a:p>
          <a:p>
            <a:pPr marL="342900" indent="-342900">
              <a:spcAft>
                <a:spcPts val="600"/>
              </a:spcAft>
              <a:buSzPct val="100000"/>
              <a:buChar char="•"/>
            </a:pPr>
            <a:r>
              <a:rPr lang="en-US" sz="1400" dirty="0">
                <a:solidFill>
                  <a:schemeClr val="tx1"/>
                </a:solidFill>
              </a:rPr>
              <a:t>Pandas needs ~418 MB of RAM for the month (file: 50 MB); Spark is not limited to one machine</a:t>
            </a:r>
            <a:endParaRPr lang="en-US" sz="1400" dirty="0"/>
          </a:p>
        </p:txBody>
      </p:sp>
      <p:sp>
        <p:nvSpPr>
          <p:cNvPr id="6" name="cores-notes"/>
          <p:cNvSpPr txBox="1"/>
          <p:nvPr/>
        </p:nvSpPr>
        <p:spPr>
          <a:xfrm>
            <a:off x="6309360" y="4754880"/>
            <a:ext cx="5330952"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4 cores ran 1.8x faster than 1 core</a:t>
            </a:r>
            <a:endParaRPr lang="en-US" sz="1400" dirty="0"/>
          </a:p>
          <a:p>
            <a:pPr marL="342900" indent="-342900">
              <a:spcAft>
                <a:spcPts val="600"/>
              </a:spcAft>
              <a:buSzPct val="100000"/>
              <a:buChar char="•"/>
            </a:pPr>
            <a:r>
              <a:rPr lang="en-US" sz="1400" dirty="0">
                <a:solidFill>
                  <a:schemeClr val="tx1"/>
                </a:solidFill>
              </a:rPr>
              <a:t>Not 4x: reading the file and planning do not speed up with more cores (Amdahl's law)</a:t>
            </a:r>
            <a:endParaRPr lang="en-US" sz="1400" dirty="0"/>
          </a:p>
          <a:p>
            <a:pPr marL="342900" indent="-342900">
              <a:spcAft>
                <a:spcPts val="600"/>
              </a:spcAft>
              <a:buSzPct val="100000"/>
              <a:buChar char="•"/>
            </a:pPr>
            <a:r>
              <a:rPr lang="en-US" sz="1400" dirty="0">
                <a:solidFill>
                  <a:schemeClr val="tx1"/>
                </a:solidFill>
              </a:rPr>
              <a:t>Our small-scale version of comparing cluster modes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Results and takeaways</a:t>
            </a:r>
            <a:endParaRPr lang="en-US" sz="3600" dirty="0"/>
          </a:p>
        </p:txBody>
      </p:sp>
      <p:sp>
        <p:nvSpPr>
          <p:cNvPr id="3" name="close-card-0"/>
          <p:cNvSpPr/>
          <p:nvPr/>
        </p:nvSpPr>
        <p:spPr>
          <a:xfrm>
            <a:off x="548640" y="1325880"/>
            <a:ext cx="3515258" cy="4206240"/>
          </a:xfrm>
          <a:prstGeom prst="roundRect">
            <a:avLst>
              <a:gd name="adj" fmla="val 3121"/>
            </a:avLst>
          </a:prstGeom>
          <a:solidFill>
            <a:schemeClr val="tx2"/>
          </a:solidFill>
          <a:ln/>
        </p:spPr>
      </p:sp>
      <p:sp>
        <p:nvSpPr>
          <p:cNvPr id="4" name="close-0-circle"/>
          <p:cNvSpPr/>
          <p:nvPr/>
        </p:nvSpPr>
        <p:spPr>
          <a:xfrm>
            <a:off x="822960" y="1554480"/>
            <a:ext cx="640080" cy="640080"/>
          </a:xfrm>
          <a:prstGeom prst="ellipse">
            <a:avLst/>
          </a:prstGeom>
          <a:solidFill>
            <a:schemeClr val="accent1"/>
          </a:solidFill>
          <a:ln/>
        </p:spPr>
      </p:sp>
      <p:pic>
        <p:nvPicPr>
          <p:cNvPr id="5" name="close-0-icon" descr="Lightbulb icon">    </p:cNvPr>
          <p:cNvPicPr>
            <a:picLocks noChangeAspect="1"/>
          </p:cNvPicPr>
          <p:nvPr/>
        </p:nvPicPr>
        <p:blipFill>
          <a:blip r:embed="rId1"/>
          <a:stretch>
            <a:fillRect/>
          </a:stretch>
        </p:blipFill>
        <p:spPr>
          <a:xfrm>
            <a:off x="982980" y="1714500"/>
            <a:ext cx="320040" cy="320040"/>
          </a:xfrm>
          <a:prstGeom prst="rect">
            <a:avLst/>
          </a:prstGeom>
        </p:spPr>
      </p:pic>
      <p:sp>
        <p:nvSpPr>
          <p:cNvPr id="6" name="close-head-0"/>
          <p:cNvSpPr txBox="1"/>
          <p:nvPr/>
        </p:nvSpPr>
        <p:spPr>
          <a:xfrm>
            <a:off x="1645920" y="1664208"/>
            <a:ext cx="2235098" cy="457200"/>
          </a:xfrm>
          <a:prstGeom prst="rect">
            <a:avLst/>
          </a:prstGeom>
          <a:noFill/>
          <a:ln/>
        </p:spPr>
        <p:txBody>
          <a:bodyPr wrap="square" lIns="0" tIns="0" rIns="0" bIns="0" rtlCol="0" anchor="t"/>
          <a:lstStyle/>
          <a:p>
            <a:pPr indent="0" marL="0">
              <a:buNone/>
            </a:pPr>
            <a:r>
              <a:rPr lang="en-US" sz="1900" b="1" dirty="0">
                <a:solidFill>
                  <a:schemeClr val="bg1"/>
                </a:solidFill>
              </a:rPr>
              <a:t>What we learned</a:t>
            </a:r>
            <a:endParaRPr lang="en-US" sz="1900" dirty="0"/>
          </a:p>
        </p:txBody>
      </p:sp>
      <p:sp>
        <p:nvSpPr>
          <p:cNvPr id="7" name="close-list-0"/>
          <p:cNvSpPr txBox="1"/>
          <p:nvPr/>
        </p:nvSpPr>
        <p:spPr>
          <a:xfrm>
            <a:off x="822960" y="2423160"/>
            <a:ext cx="3012338" cy="2971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One DataFrame API handled 6 sources in 4 formats</a:t>
            </a:r>
            <a:endParaRPr lang="en-US" sz="1500" dirty="0"/>
          </a:p>
          <a:p>
            <a:pPr marL="342900" indent="-342900">
              <a:spcAft>
                <a:spcPts val="1000"/>
              </a:spcAft>
              <a:buSzPct val="100000"/>
              <a:buChar char="•"/>
            </a:pPr>
            <a:r>
              <a:rPr lang="en-US" sz="1500" dirty="0">
                <a:solidFill>
                  <a:schemeClr val="bg1"/>
                </a:solidFill>
              </a:rPr>
              <a:t>Joining by time and place answers questions no single dataset can</a:t>
            </a:r>
            <a:endParaRPr lang="en-US" sz="1500" dirty="0"/>
          </a:p>
          <a:p>
            <a:pPr marL="342900" indent="-342900">
              <a:spcAft>
                <a:spcPts val="1000"/>
              </a:spcAft>
              <a:buSzPct val="100000"/>
              <a:buChar char="•"/>
            </a:pPr>
            <a:r>
              <a:rPr lang="en-US" sz="1500" dirty="0">
                <a:solidFill>
                  <a:schemeClr val="bg1"/>
                </a:solidFill>
              </a:rPr>
              <a:t>Biggest wins: Parquet, right-sized shuffles, caching reused data</a:t>
            </a:r>
            <a:endParaRPr lang="en-US" sz="1500" dirty="0"/>
          </a:p>
          <a:p>
            <a:pPr marL="342900" indent="-342900">
              <a:spcAft>
                <a:spcPts val="1000"/>
              </a:spcAft>
              <a:buSzPct val="100000"/>
              <a:buChar char="•"/>
            </a:pPr>
            <a:r>
              <a:rPr lang="en-US" sz="1500" dirty="0">
                <a:solidFill>
                  <a:schemeClr val="bg1"/>
                </a:solidFill>
              </a:rPr>
              <a:t>Pandas for small data, Spark as data grows</a:t>
            </a:r>
            <a:endParaRPr lang="en-US" sz="1500" dirty="0"/>
          </a:p>
        </p:txBody>
      </p:sp>
      <p:sp>
        <p:nvSpPr>
          <p:cNvPr id="8" name="close-card-1"/>
          <p:cNvSpPr/>
          <p:nvPr/>
        </p:nvSpPr>
        <p:spPr>
          <a:xfrm>
            <a:off x="4338218" y="1325880"/>
            <a:ext cx="3515258" cy="4206240"/>
          </a:xfrm>
          <a:prstGeom prst="roundRect">
            <a:avLst>
              <a:gd name="adj" fmla="val 3121"/>
            </a:avLst>
          </a:prstGeom>
          <a:solidFill>
            <a:schemeClr val="tx2"/>
          </a:solidFill>
          <a:ln/>
        </p:spPr>
      </p:sp>
      <p:sp>
        <p:nvSpPr>
          <p:cNvPr id="9" name="close-1-circle"/>
          <p:cNvSpPr/>
          <p:nvPr/>
        </p:nvSpPr>
        <p:spPr>
          <a:xfrm>
            <a:off x="4612538" y="1554480"/>
            <a:ext cx="640080" cy="640080"/>
          </a:xfrm>
          <a:prstGeom prst="ellipse">
            <a:avLst/>
          </a:prstGeom>
          <a:solidFill>
            <a:schemeClr val="accent2"/>
          </a:solidFill>
          <a:ln/>
        </p:spPr>
      </p:sp>
      <p:pic>
        <p:nvPicPr>
          <p:cNvPr id="10" name="close-1-icon" descr="CheckCircle icon">    </p:cNvPr>
          <p:cNvPicPr>
            <a:picLocks noChangeAspect="1"/>
          </p:cNvPicPr>
          <p:nvPr/>
        </p:nvPicPr>
        <p:blipFill>
          <a:blip r:embed="rId2"/>
          <a:stretch>
            <a:fillRect/>
          </a:stretch>
        </p:blipFill>
        <p:spPr>
          <a:xfrm>
            <a:off x="4772558" y="1714500"/>
            <a:ext cx="320040" cy="320040"/>
          </a:xfrm>
          <a:prstGeom prst="rect">
            <a:avLst/>
          </a:prstGeom>
        </p:spPr>
      </p:pic>
      <p:sp>
        <p:nvSpPr>
          <p:cNvPr id="11" name="close-head-1"/>
          <p:cNvSpPr txBox="1"/>
          <p:nvPr/>
        </p:nvSpPr>
        <p:spPr>
          <a:xfrm>
            <a:off x="5435498" y="1664208"/>
            <a:ext cx="2235098" cy="457200"/>
          </a:xfrm>
          <a:prstGeom prst="rect">
            <a:avLst/>
          </a:prstGeom>
          <a:noFill/>
          <a:ln/>
        </p:spPr>
        <p:txBody>
          <a:bodyPr wrap="square" lIns="0" tIns="0" rIns="0" bIns="0" rtlCol="0" anchor="t"/>
          <a:lstStyle/>
          <a:p>
            <a:pPr indent="0" marL="0">
              <a:buNone/>
            </a:pPr>
            <a:r>
              <a:rPr lang="en-US" sz="1900" b="1" dirty="0">
                <a:solidFill>
                  <a:schemeClr val="bg1"/>
                </a:solidFill>
              </a:rPr>
              <a:t>Evaluation criteria</a:t>
            </a:r>
            <a:endParaRPr lang="en-US" sz="1900" dirty="0"/>
          </a:p>
        </p:txBody>
      </p:sp>
      <p:sp>
        <p:nvSpPr>
          <p:cNvPr id="12" name="close-list-1"/>
          <p:cNvSpPr txBox="1"/>
          <p:nvPr/>
        </p:nvSpPr>
        <p:spPr>
          <a:xfrm>
            <a:off x="4612538" y="2423160"/>
            <a:ext cx="3012338" cy="2971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Concepts: lazy evaluation, shuffles and plans shown live</a:t>
            </a:r>
            <a:endParaRPr lang="en-US" sz="1500" dirty="0"/>
          </a:p>
          <a:p>
            <a:pPr marL="342900" indent="-342900">
              <a:spcAft>
                <a:spcPts val="1000"/>
              </a:spcAft>
              <a:buSzPct val="100000"/>
              <a:buChar char="•"/>
            </a:pPr>
            <a:r>
              <a:rPr lang="en-US" sz="1500" dirty="0">
                <a:solidFill>
                  <a:schemeClr val="bg1"/>
                </a:solidFill>
              </a:rPr>
              <a:t>Implementation: schemas, quality reports, 10 queries</a:t>
            </a:r>
            <a:endParaRPr lang="en-US" sz="1500" dirty="0"/>
          </a:p>
          <a:p>
            <a:pPr marL="342900" indent="-342900">
              <a:spcAft>
                <a:spcPts val="1000"/>
              </a:spcAft>
              <a:buSzPct val="100000"/>
              <a:buChar char="•"/>
            </a:pPr>
            <a:r>
              <a:rPr lang="en-US" sz="1500" dirty="0">
                <a:solidFill>
                  <a:schemeClr val="bg1"/>
                </a:solidFill>
              </a:rPr>
              <a:t>Optimization: 5 measured experiments</a:t>
            </a:r>
            <a:endParaRPr lang="en-US" sz="1500" dirty="0"/>
          </a:p>
          <a:p>
            <a:pPr marL="342900" indent="-342900">
              <a:spcAft>
                <a:spcPts val="1000"/>
              </a:spcAft>
              <a:buSzPct val="100000"/>
              <a:buChar char="•"/>
            </a:pPr>
            <a:r>
              <a:rPr lang="en-US" sz="1500" dirty="0">
                <a:solidFill>
                  <a:schemeClr val="bg1"/>
                </a:solidFill>
              </a:rPr>
              <a:t>Documentation: notebook, README, full explanation</a:t>
            </a:r>
            <a:endParaRPr lang="en-US" sz="1500" dirty="0"/>
          </a:p>
          <a:p>
            <a:pPr marL="342900" indent="-342900">
              <a:spcAft>
                <a:spcPts val="1000"/>
              </a:spcAft>
              <a:buSzPct val="100000"/>
              <a:buChar char="•"/>
            </a:pPr>
            <a:r>
              <a:rPr lang="en-US" sz="1500" dirty="0">
                <a:solidFill>
                  <a:schemeClr val="bg1"/>
                </a:solidFill>
              </a:rPr>
              <a:t>Presentation: charts, insights, Spark UI screenshots</a:t>
            </a:r>
            <a:endParaRPr lang="en-US" sz="1500" dirty="0"/>
          </a:p>
        </p:txBody>
      </p:sp>
      <p:sp>
        <p:nvSpPr>
          <p:cNvPr id="13" name="close-card-2"/>
          <p:cNvSpPr/>
          <p:nvPr/>
        </p:nvSpPr>
        <p:spPr>
          <a:xfrm>
            <a:off x="8127797" y="1325880"/>
            <a:ext cx="3515258" cy="4206240"/>
          </a:xfrm>
          <a:prstGeom prst="roundRect">
            <a:avLst>
              <a:gd name="adj" fmla="val 3121"/>
            </a:avLst>
          </a:prstGeom>
          <a:solidFill>
            <a:schemeClr val="tx2"/>
          </a:solidFill>
          <a:ln/>
        </p:spPr>
      </p:sp>
      <p:sp>
        <p:nvSpPr>
          <p:cNvPr id="14" name="close-2-circle"/>
          <p:cNvSpPr/>
          <p:nvPr/>
        </p:nvSpPr>
        <p:spPr>
          <a:xfrm>
            <a:off x="8402117" y="1554480"/>
            <a:ext cx="640080" cy="640080"/>
          </a:xfrm>
          <a:prstGeom prst="ellipse">
            <a:avLst/>
          </a:prstGeom>
          <a:solidFill>
            <a:schemeClr val="accent3"/>
          </a:solidFill>
          <a:ln/>
        </p:spPr>
      </p:sp>
      <p:pic>
        <p:nvPicPr>
          <p:cNvPr id="15" name="close-2-icon" descr="Rocket icon">    </p:cNvPr>
          <p:cNvPicPr>
            <a:picLocks noChangeAspect="1"/>
          </p:cNvPicPr>
          <p:nvPr/>
        </p:nvPicPr>
        <p:blipFill>
          <a:blip r:embed="rId3"/>
          <a:stretch>
            <a:fillRect/>
          </a:stretch>
        </p:blipFill>
        <p:spPr>
          <a:xfrm>
            <a:off x="8562137" y="1714500"/>
            <a:ext cx="320040" cy="320040"/>
          </a:xfrm>
          <a:prstGeom prst="rect">
            <a:avLst/>
          </a:prstGeom>
        </p:spPr>
      </p:pic>
      <p:sp>
        <p:nvSpPr>
          <p:cNvPr id="16" name="close-head-2"/>
          <p:cNvSpPr txBox="1"/>
          <p:nvPr/>
        </p:nvSpPr>
        <p:spPr>
          <a:xfrm>
            <a:off x="9225077" y="1664208"/>
            <a:ext cx="2235098" cy="457200"/>
          </a:xfrm>
          <a:prstGeom prst="rect">
            <a:avLst/>
          </a:prstGeom>
          <a:noFill/>
          <a:ln/>
        </p:spPr>
        <p:txBody>
          <a:bodyPr wrap="square" lIns="0" tIns="0" rIns="0" bIns="0" rtlCol="0" anchor="t"/>
          <a:lstStyle/>
          <a:p>
            <a:pPr indent="0" marL="0">
              <a:buNone/>
            </a:pPr>
            <a:r>
              <a:rPr lang="en-US" sz="1900" b="1" dirty="0">
                <a:solidFill>
                  <a:schemeClr val="bg1"/>
                </a:solidFill>
              </a:rPr>
              <a:t>Bonus and next steps</a:t>
            </a:r>
            <a:endParaRPr lang="en-US" sz="1900" dirty="0"/>
          </a:p>
        </p:txBody>
      </p:sp>
      <p:sp>
        <p:nvSpPr>
          <p:cNvPr id="17" name="close-list-2"/>
          <p:cNvSpPr txBox="1"/>
          <p:nvPr/>
        </p:nvSpPr>
        <p:spPr>
          <a:xfrm>
            <a:off x="8402117" y="2423160"/>
            <a:ext cx="3012338" cy="2971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Done: live traffic API on every run</a:t>
            </a:r>
            <a:endParaRPr lang="en-US" sz="1500" dirty="0"/>
          </a:p>
          <a:p>
            <a:pPr marL="342900" indent="-342900">
              <a:spcAft>
                <a:spcPts val="1000"/>
              </a:spcAft>
              <a:buSzPct val="100000"/>
              <a:buChar char="•"/>
            </a:pPr>
            <a:r>
              <a:rPr lang="en-US" sz="1500" dirty="0">
                <a:solidFill>
                  <a:schemeClr val="bg1"/>
                </a:solidFill>
              </a:rPr>
              <a:t>Done: 1 vs 2 vs 4 cores comparison</a:t>
            </a:r>
            <a:endParaRPr lang="en-US" sz="1500" dirty="0"/>
          </a:p>
          <a:p>
            <a:pPr marL="342900" indent="-342900">
              <a:spcAft>
                <a:spcPts val="1000"/>
              </a:spcAft>
              <a:buSzPct val="100000"/>
              <a:buChar char="•"/>
            </a:pPr>
            <a:r>
              <a:rPr lang="en-US" sz="1500" dirty="0">
                <a:solidFill>
                  <a:schemeClr val="bg1"/>
                </a:solidFill>
              </a:rPr>
              <a:t>Next: multi-machine cluster or Kubernetes</a:t>
            </a:r>
            <a:endParaRPr lang="en-US" sz="1500" dirty="0"/>
          </a:p>
          <a:p>
            <a:pPr marL="342900" indent="-342900">
              <a:spcAft>
                <a:spcPts val="1000"/>
              </a:spcAft>
              <a:buSzPct val="100000"/>
              <a:buChar char="•"/>
            </a:pPr>
            <a:r>
              <a:rPr lang="en-US" sz="1500" dirty="0">
                <a:solidFill>
                  <a:schemeClr val="bg1"/>
                </a:solidFill>
              </a:rPr>
              <a:t>Next: Structured Streaming for continuous live data</a:t>
            </a:r>
            <a:endParaRPr lang="en-US" sz="1500" dirty="0"/>
          </a:p>
        </p:txBody>
      </p:sp>
      <p:sp>
        <p:nvSpPr>
          <p:cNvPr id="18" name="thanks"/>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2400" b="1" dirty="0">
                <a:solidFill>
                  <a:schemeClr val="accent1"/>
                </a:solidFill>
              </a:rPr>
              <a:t>Thank you. Questions?</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mart City Night">
  <a:themeElements>
    <a:clrScheme name="Smart City Night">
      <a:dk1>
        <a:srgbClr val="16213E"/>
      </a:dk1>
      <a:lt1>
        <a:srgbClr val="FFFFFF"/>
      </a:lt1>
      <a:dk2>
        <a:srgbClr val="0F3460"/>
      </a:dk2>
      <a:lt2>
        <a:srgbClr val="EEF2F7"/>
      </a:lt2>
      <a:accent1>
        <a:srgbClr val="F2A541"/>
      </a:accent1>
      <a:accent2>
        <a:srgbClr val="1FA5A0"/>
      </a:accent2>
      <a:accent3>
        <a:srgbClr val="E94F37"/>
      </a:accent3>
      <a:accent4>
        <a:srgbClr val="5C6B8A"/>
      </a:accent4>
      <a:accent5>
        <a:srgbClr val="8FB9A8"/>
      </a:accent5>
      <a:accent6>
        <a:srgbClr val="C9D6EA"/>
      </a:accent6>
      <a:hlink>
        <a:srgbClr val="1FA5A0"/>
      </a:hlink>
      <a:folHlink>
        <a:srgbClr val="5C6B8A"/>
      </a:folHlink>
    </a:clrScheme>
    <a:fontScheme name="Smart City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NYC — Spark DataFrames</dc:title>
  <dc:subject>PptxGenJS Presentation</dc:subject>
  <dc:creator>Varun Murugan, Rankin Yanu, Navin Nadar, Abhay Hanchate</dc:creator>
  <cp:lastModifiedBy>Varun Murugan, Rankin Yanu, Navin Nadar, Abhay Hanchate</cp:lastModifiedBy>
  <cp:revision>1</cp:revision>
  <dcterms:created xsi:type="dcterms:W3CDTF">2026-10-07T18:27:44Z</dcterms:created>
  <dcterms:modified xsi:type="dcterms:W3CDTF">2026-10-07T18:27:44Z</dcterms:modified>
</cp:coreProperties>
</file>